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7"/>
  </p:sldMasterIdLst>
  <p:notesMasterIdLst>
    <p:notesMasterId r:id="rId34"/>
  </p:notesMasterIdLst>
  <p:handoutMasterIdLst>
    <p:handoutMasterId r:id="rId35"/>
  </p:handoutMasterIdLst>
  <p:sldIdLst>
    <p:sldId id="260" r:id="rId8"/>
    <p:sldId id="287" r:id="rId9"/>
    <p:sldId id="268" r:id="rId10"/>
    <p:sldId id="279" r:id="rId11"/>
    <p:sldId id="270" r:id="rId12"/>
    <p:sldId id="271" r:id="rId13"/>
    <p:sldId id="272" r:id="rId14"/>
    <p:sldId id="269" r:id="rId15"/>
    <p:sldId id="273" r:id="rId16"/>
    <p:sldId id="275" r:id="rId17"/>
    <p:sldId id="274" r:id="rId18"/>
    <p:sldId id="280" r:id="rId19"/>
    <p:sldId id="261" r:id="rId20"/>
    <p:sldId id="281" r:id="rId21"/>
    <p:sldId id="262" r:id="rId22"/>
    <p:sldId id="282" r:id="rId23"/>
    <p:sldId id="283" r:id="rId24"/>
    <p:sldId id="284" r:id="rId25"/>
    <p:sldId id="264" r:id="rId26"/>
    <p:sldId id="285" r:id="rId27"/>
    <p:sldId id="278" r:id="rId28"/>
    <p:sldId id="265" r:id="rId29"/>
    <p:sldId id="266" r:id="rId30"/>
    <p:sldId id="267" r:id="rId31"/>
    <p:sldId id="276" r:id="rId32"/>
    <p:sldId id="286" r:id="rId33"/>
  </p:sldIdLst>
  <p:sldSz cx="12190413" cy="6858000"/>
  <p:notesSz cx="6797675" cy="9928225"/>
  <p:custDataLst>
    <p:tags r:id="rId36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8" autoAdjust="0"/>
    <p:restoredTop sz="93304" autoAdjust="0"/>
  </p:normalViewPr>
  <p:slideViewPr>
    <p:cSldViewPr showGuides="1">
      <p:cViewPr>
        <p:scale>
          <a:sx n="75" d="100"/>
          <a:sy n="75" d="100"/>
        </p:scale>
        <p:origin x="324" y="5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702"/>
    </p:cViewPr>
  </p:sorter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theme" Target="theme/theme1.xml"/><Relationship Id="rId21" Type="http://schemas.openxmlformats.org/officeDocument/2006/relationships/slide" Target="slides/slide14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ags" Target="tags/tag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30091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7" y="0"/>
            <a:ext cx="2945659" cy="49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8" y="4715907"/>
            <a:ext cx="4984961" cy="4467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814"/>
            <a:ext cx="2945659" cy="49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7" y="9431814"/>
            <a:ext cx="2945659" cy="49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33335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51080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Re: Obama’s 1st inauguration:</a:t>
            </a:r>
            <a:r>
              <a:rPr lang="en-GB" baseline="0"/>
              <a:t> January 20, 2009</a:t>
            </a:r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47663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Re: Obama’s 1st inauguration:</a:t>
            </a:r>
            <a:r>
              <a:rPr lang="en-GB" baseline="0"/>
              <a:t> January 20, 2009</a:t>
            </a:r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50025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87612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0954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Jupyter</a:t>
            </a:r>
            <a:r>
              <a:rPr lang="en-GB" baseline="0"/>
              <a:t> Wistar</a:t>
            </a:r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94134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239995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23601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100388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428761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901449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67487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27CA8-18A9-8D1C-11A7-BB8D7C0A9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9F7C0-9770-2DB7-D3F4-31DD6C021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3B46D-6119-18DE-1F7A-33A8A6DDC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69865-D1EB-CD86-C1CB-7DF6765C57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78098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280341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699511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792375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204507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800412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6278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/>
          <a:p>
            <a:r>
              <a:rPr lang="en-GB"/>
              <a:t>dfdsafdsafs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67814" y="6382800"/>
            <a:ext cx="432600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1213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/>
          <a:p>
            <a:r>
              <a:rPr lang="en-GB"/>
              <a:t>dfdsafdsafs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67814" y="6382800"/>
            <a:ext cx="432600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/>
          <a:p>
            <a:r>
              <a:rPr lang="en-GB"/>
              <a:t>dfdsafdsafs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67814" y="6382800"/>
            <a:ext cx="432600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dirty="0"/>
              <a:t>Click to add title one line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/>
          <a:p>
            <a:r>
              <a:rPr lang="en-GB"/>
              <a:t>dfdsafdsafs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67814" y="6382800"/>
            <a:ext cx="432600" cy="316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/>
          <a:p>
            <a:r>
              <a:rPr lang="en-GB"/>
              <a:t>dfdsafdsafs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67814" y="6382800"/>
            <a:ext cx="432600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/>
          <a:p>
            <a:r>
              <a:rPr lang="en-GB"/>
              <a:t>dfdsafdsafs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67814" y="6382800"/>
            <a:ext cx="432600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dfdsafdsafs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dfdsafdsafs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endParaRPr lang="en-GB" dirty="0"/>
          </a:p>
        </p:txBody>
      </p:sp>
      <p:sp>
        <p:nvSpPr>
          <p:cNvPr id="113676" name="text" descr="{&quot;templafy&quot;:{&quot;id&quot;:&quot;2fce62a0-f28a-44e1-a519-0cbe37b25f7a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DTU</a:t>
            </a:r>
          </a:p>
        </p:txBody>
      </p:sp>
      <p:sp>
        <p:nvSpPr>
          <p:cNvPr id="5" name="date" descr="{&quot;templafy&quot;:{&quot;id&quot;:&quot;58465eeb-cfe0-4970-97ec-88179dc0a9c2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February 13, 2025</a:t>
            </a:r>
          </a:p>
        </p:txBody>
      </p:sp>
      <p:sp>
        <p:nvSpPr>
          <p:cNvPr id="7" name="text" descr="{&quot;templafy&quot;:{&quot;id&quot;:&quot;5020bdfb-1912-4d6d-a5c3-71b7da283692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GB" sz="700">
                <a:solidFill>
                  <a:schemeClr val="bg1"/>
                </a:solidFill>
                <a:latin typeface="+mn-lt"/>
              </a:rPr>
              <a:t>Introduction to Mininet-WiFi exercise</a:t>
            </a:r>
            <a:endParaRPr lang="en-GB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ext Placeholder 5"/>
          <p:cNvSpPr txBox="1">
            <a:spLocks/>
          </p:cNvSpPr>
          <p:nvPr userDrawn="1"/>
        </p:nvSpPr>
        <p:spPr>
          <a:xfrm>
            <a:off x="11355000" y="6524625"/>
            <a:ext cx="838200" cy="333375"/>
          </a:xfrm>
          <a:prstGeom prst="rect">
            <a:avLst/>
          </a:prstGeom>
        </p:spPr>
        <p:txBody>
          <a:bodyPr/>
          <a:lstStyle>
            <a:lvl1pPr marL="0" indent="0" algn="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fld id="{ACC93F69-0F9F-4948-93E7-045C898BAF2B}" type="slidenum">
              <a:rPr lang="en-US" kern="0" smtClean="0"/>
              <a:pPr/>
              <a:t>‹#›</a:t>
            </a:fld>
            <a:endParaRPr lang="da-DK" kern="0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358EA-4D5B-461F-997D-DE6729900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Introduction to Mininet-WiFi exercise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CE6942-A17C-4247-86C6-41FACF7E9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Course 34351 Access- and Home Networks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5D337-5C80-BEF7-E513-8E3BC12EE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Mininet-WiFi exercise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6844B-79D0-909B-93B9-B0DDC45B5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First mandatory exercises in course</a:t>
            </a:r>
          </a:p>
          <a:p>
            <a:endParaRPr lang="en-GB"/>
          </a:p>
          <a:p>
            <a:r>
              <a:rPr lang="da-DK"/>
              <a:t>Purpose: To experiment with different WiFi networks and to get a sense of the performance of WiFi in different scenarios</a:t>
            </a:r>
          </a:p>
          <a:p>
            <a:endParaRPr lang="da-DK"/>
          </a:p>
          <a:p>
            <a:r>
              <a:rPr lang="da-DK"/>
              <a:t>Plan: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D30944-DEAC-F9C4-18CD-7F1362FC7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873264"/>
              </p:ext>
            </p:extLst>
          </p:nvPr>
        </p:nvGraphicFramePr>
        <p:xfrm>
          <a:off x="1893665" y="3645024"/>
          <a:ext cx="9074496" cy="218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624">
                  <a:extLst>
                    <a:ext uri="{9D8B030D-6E8A-4147-A177-3AD203B41FA5}">
                      <a16:colId xmlns:a16="http://schemas.microsoft.com/office/drawing/2014/main" val="1556840463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13686200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Date</a:t>
                      </a:r>
                      <a:endParaRPr lang="da-DK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Topic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2025-02-13</a:t>
                      </a:r>
                      <a:endParaRPr lang="da-DK" sz="16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Introduction to Mininet-WiFi, Getting</a:t>
                      </a:r>
                      <a:r>
                        <a:rPr lang="en-GB" sz="1600" baseline="0">
                          <a:solidFill>
                            <a:schemeClr val="tx1"/>
                          </a:solidFill>
                        </a:rPr>
                        <a:t> the software installed and tested</a:t>
                      </a:r>
                      <a:endParaRPr lang="da-DK" sz="16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195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2025-02-20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Exercise</a:t>
                      </a:r>
                      <a:r>
                        <a:rPr lang="en-GB" sz="1600" baseline="0"/>
                        <a:t> part 1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157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2025-02-27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Exercise part 2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227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2025-03-06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Wrap-up if there are parts</a:t>
                      </a:r>
                      <a:r>
                        <a:rPr lang="en-GB" sz="1600" baseline="0"/>
                        <a:t> you’re missing – otherwise work on your journal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15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2025-03-13</a:t>
                      </a:r>
                      <a:endParaRPr lang="da-DK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Deadline for handing-in the journal</a:t>
                      </a:r>
                      <a:r>
                        <a:rPr lang="en-GB" sz="1600" baseline="0"/>
                        <a:t> to the assignment on DTU Learn @13.00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283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187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How can we evaluate network performance?</a:t>
            </a:r>
            <a:endParaRPr lang="da-DK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Measurements on a real (live) network?</a:t>
            </a:r>
          </a:p>
          <a:p>
            <a:endParaRPr lang="en-GB"/>
          </a:p>
          <a:p>
            <a:r>
              <a:rPr lang="en-GB"/>
              <a:t>Measurements on a test bed?</a:t>
            </a:r>
          </a:p>
          <a:p>
            <a:endParaRPr lang="en-GB"/>
          </a:p>
          <a:p>
            <a:r>
              <a:rPr lang="en-GB"/>
              <a:t>Build simulation (software) models of protocols and network nodes and run simulations</a:t>
            </a:r>
          </a:p>
          <a:p>
            <a:endParaRPr lang="en-GB"/>
          </a:p>
          <a:p>
            <a:r>
              <a:rPr lang="en-GB"/>
              <a:t>Emulate node functionality in software</a:t>
            </a:r>
          </a:p>
        </p:txBody>
      </p:sp>
    </p:spTree>
    <p:extLst>
      <p:ext uri="{BB962C8B-B14F-4D97-AF65-F5344CB8AC3E}">
        <p14:creationId xmlns:p14="http://schemas.microsoft.com/office/powerpoint/2010/main" val="2085727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Measurements on a live network: Pros and cons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Pros:</a:t>
            </a:r>
          </a:p>
          <a:p>
            <a:pPr lvl="1"/>
            <a:r>
              <a:rPr lang="en-GB"/>
              <a:t>Results are real and represents actual traffic</a:t>
            </a:r>
          </a:p>
          <a:p>
            <a:endParaRPr lang="en-GB"/>
          </a:p>
          <a:p>
            <a:r>
              <a:rPr lang="en-GB"/>
              <a:t>Cons:</a:t>
            </a:r>
          </a:p>
          <a:p>
            <a:pPr lvl="1"/>
            <a:r>
              <a:rPr lang="en-GB"/>
              <a:t>No control over traffic</a:t>
            </a:r>
          </a:p>
          <a:p>
            <a:pPr lvl="1"/>
            <a:r>
              <a:rPr lang="en-GB"/>
              <a:t>Results generally not reproducible</a:t>
            </a:r>
          </a:p>
          <a:p>
            <a:pPr lvl="1"/>
            <a:r>
              <a:rPr lang="en-GB"/>
              <a:t>Very difficult to test alternative</a:t>
            </a:r>
            <a:br>
              <a:rPr lang="en-GB"/>
            </a:br>
            <a:r>
              <a:rPr lang="en-GB"/>
              <a:t>configurations, topologies, etc.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430913" y="2420888"/>
            <a:ext cx="3840562" cy="3960440"/>
            <a:chOff x="6430913" y="2420888"/>
            <a:chExt cx="3840562" cy="396044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30913" y="2420888"/>
              <a:ext cx="3686913" cy="396044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 rot="16200000">
              <a:off x="8342742" y="4452595"/>
              <a:ext cx="371896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ts val="432"/>
                </a:spcBef>
              </a:pPr>
              <a:r>
                <a:rPr lang="da-DK" sz="900">
                  <a:latin typeface="+mn-lt"/>
                </a:rPr>
                <a:t>Source: https://www.pcworld.com/article/533069/obama_web_traffic.html</a:t>
              </a:r>
              <a:endParaRPr lang="da-DK" sz="900" dirty="0" err="1">
                <a:latin typeface="+mn-lt"/>
              </a:endParaRPr>
            </a:p>
          </p:txBody>
        </p:sp>
      </p:grpSp>
      <p:cxnSp>
        <p:nvCxnSpPr>
          <p:cNvPr id="9" name="Straight Arrow Connector 8"/>
          <p:cNvCxnSpPr/>
          <p:nvPr/>
        </p:nvCxnSpPr>
        <p:spPr bwMode="auto">
          <a:xfrm>
            <a:off x="5735166" y="3501008"/>
            <a:ext cx="64807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233160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Measurements on a test bed: Pros and cons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Pros:</a:t>
            </a:r>
          </a:p>
          <a:p>
            <a:pPr lvl="1"/>
            <a:r>
              <a:rPr lang="en-GB"/>
              <a:t>Control of network traffic and results are normally reproducible on identical test beds</a:t>
            </a:r>
          </a:p>
          <a:p>
            <a:pPr lvl="1"/>
            <a:r>
              <a:rPr lang="en-GB"/>
              <a:t>Easier to test different configurations, topologies, ... than on a live network</a:t>
            </a:r>
          </a:p>
          <a:p>
            <a:endParaRPr lang="en-GB"/>
          </a:p>
          <a:p>
            <a:r>
              <a:rPr lang="en-GB"/>
              <a:t>Cons:</a:t>
            </a:r>
          </a:p>
          <a:p>
            <a:pPr lvl="1"/>
            <a:r>
              <a:rPr lang="en-GB"/>
              <a:t>May be difficult to change/modify software on network nodes</a:t>
            </a:r>
          </a:p>
          <a:p>
            <a:pPr lvl="1"/>
            <a:r>
              <a:rPr lang="en-GB"/>
              <a:t>May be expensive to set up for a bigger network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8861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Measurements using simulations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Pros:</a:t>
            </a:r>
          </a:p>
          <a:p>
            <a:pPr lvl="1"/>
            <a:r>
              <a:rPr lang="en-GB"/>
              <a:t>Possible to develop very detailed models</a:t>
            </a:r>
          </a:p>
          <a:p>
            <a:pPr lvl="1"/>
            <a:r>
              <a:rPr lang="en-GB"/>
              <a:t>Full control of everything</a:t>
            </a:r>
          </a:p>
          <a:p>
            <a:pPr lvl="1"/>
            <a:r>
              <a:rPr lang="en-GB"/>
              <a:t>Results are 100% reproducible</a:t>
            </a:r>
          </a:p>
          <a:p>
            <a:endParaRPr lang="en-GB"/>
          </a:p>
          <a:p>
            <a:r>
              <a:rPr lang="en-GB"/>
              <a:t>Cons:</a:t>
            </a:r>
          </a:p>
          <a:p>
            <a:pPr lvl="1"/>
            <a:r>
              <a:rPr lang="en-GB"/>
              <a:t>Can take a long time to develop many (complicated) models</a:t>
            </a:r>
          </a:p>
          <a:p>
            <a:pPr lvl="1"/>
            <a:r>
              <a:rPr lang="en-GB"/>
              <a:t>Impossible to implement every functionality in the network =&gt; Models are not complete</a:t>
            </a:r>
            <a:endParaRPr lang="da-DK"/>
          </a:p>
          <a:p>
            <a:pPr lvl="1"/>
            <a:r>
              <a:rPr lang="en-GB"/>
              <a:t>Results are (usually) not identical to real systems</a:t>
            </a:r>
          </a:p>
          <a:p>
            <a:pPr lvl="1"/>
            <a:r>
              <a:rPr lang="en-GB"/>
              <a:t>But if you’ve carefully selected what to implement and what to leave out, you can still get useful results</a:t>
            </a:r>
          </a:p>
          <a:p>
            <a:pPr lvl="3"/>
            <a:r>
              <a:rPr lang="en-GB"/>
              <a:t>Especially if you use simulations to compare configurations, etc.</a:t>
            </a:r>
          </a:p>
        </p:txBody>
      </p:sp>
    </p:spTree>
    <p:extLst>
      <p:ext uri="{BB962C8B-B14F-4D97-AF65-F5344CB8AC3E}">
        <p14:creationId xmlns:p14="http://schemas.microsoft.com/office/powerpoint/2010/main" val="425923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Emulation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Pros:</a:t>
            </a:r>
          </a:p>
          <a:p>
            <a:pPr lvl="1"/>
            <a:r>
              <a:rPr lang="en-GB"/>
              <a:t>You use actual code, e.g., actual Linux drivers</a:t>
            </a:r>
          </a:p>
          <a:p>
            <a:pPr lvl="2"/>
            <a:r>
              <a:rPr lang="en-GB"/>
              <a:t>Easy to test the performance of an updated driver</a:t>
            </a:r>
          </a:p>
          <a:p>
            <a:pPr lvl="1"/>
            <a:r>
              <a:rPr lang="en-GB"/>
              <a:t>Results are (almost) reproducible</a:t>
            </a:r>
          </a:p>
          <a:p>
            <a:pPr lvl="1"/>
            <a:r>
              <a:rPr lang="en-GB"/>
              <a:t>A powerful computer can emulate a large network (i.e. less resources than a test bed)</a:t>
            </a:r>
          </a:p>
          <a:p>
            <a:endParaRPr lang="en-GB"/>
          </a:p>
          <a:p>
            <a:r>
              <a:rPr lang="en-GB"/>
              <a:t>Cons:</a:t>
            </a:r>
          </a:p>
          <a:p>
            <a:pPr lvl="1"/>
            <a:r>
              <a:rPr lang="en-GB"/>
              <a:t>You use actual code, e.g., actual Linux drivers</a:t>
            </a:r>
          </a:p>
          <a:p>
            <a:pPr lvl="2"/>
            <a:r>
              <a:rPr lang="en-GB"/>
              <a:t>Bugs in the code affects your results</a:t>
            </a:r>
          </a:p>
          <a:p>
            <a:pPr lvl="1"/>
            <a:r>
              <a:rPr lang="en-GB"/>
              <a:t>Still some abstractions, e.g., models of communication links</a:t>
            </a:r>
          </a:p>
          <a:p>
            <a:pPr lvl="1"/>
            <a:r>
              <a:rPr lang="en-GB"/>
              <a:t>Very large networks may require a big computer (but still cheaper than a test bed)</a:t>
            </a:r>
          </a:p>
          <a:p>
            <a:pPr lvl="1"/>
            <a:r>
              <a:rPr lang="en-GB"/>
              <a:t>Often developed for a specific area of research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1885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Network emulator</a:t>
            </a:r>
            <a:endParaRPr lang="da-DK"/>
          </a:p>
        </p:txBody>
      </p:sp>
      <p:pic>
        <p:nvPicPr>
          <p:cNvPr id="1026" name="Picture 2" descr="https://i1.wp.com/www.brianlinkletter.com/wp-content/uploads/2019/04/wistar-splash.png?resize=1024%2C600&amp;ssl=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637" y="1706563"/>
            <a:ext cx="7756820" cy="454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063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Mininet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/>
              <a:t>“</a:t>
            </a:r>
            <a:r>
              <a:rPr lang="en-GB" sz="2400" i="1"/>
              <a:t>Mininet is a network emulator which creates a network of virtual hosts, switches, controllers, and links. Mininet hosts run standard Linux network software, and its switches support OpenFlow for highly flexible custom routing and Software-Defined Networking.</a:t>
            </a:r>
            <a:r>
              <a:rPr lang="en-GB" sz="2400"/>
              <a:t>”</a:t>
            </a:r>
          </a:p>
          <a:p>
            <a:pPr marL="0" indent="0">
              <a:buNone/>
            </a:pPr>
            <a:r>
              <a:rPr lang="en-GB"/>
              <a:t>Source: www.mininet.org</a:t>
            </a:r>
          </a:p>
          <a:p>
            <a:pPr marL="0" indent="0"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8716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Mininet (2)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Originally designed for research in Software Defined Networking and OpenFlow</a:t>
            </a:r>
          </a:p>
          <a:p>
            <a:endParaRPr lang="en-GB"/>
          </a:p>
          <a:p>
            <a:r>
              <a:rPr lang="en-GB"/>
              <a:t>Based on process abstraction in Linux and </a:t>
            </a:r>
            <a:r>
              <a:rPr lang="en-GB" i="1"/>
              <a:t>network namespaces</a:t>
            </a:r>
            <a:endParaRPr lang="da-DK" i="1"/>
          </a:p>
          <a:p>
            <a:pPr lvl="1"/>
            <a:r>
              <a:rPr lang="en-GB"/>
              <a:t>Process ≈ Code + Data in memory (isolated from other processes by the OS)</a:t>
            </a:r>
          </a:p>
          <a:p>
            <a:endParaRPr lang="en-GB"/>
          </a:p>
          <a:p>
            <a:r>
              <a:rPr lang="en-GB"/>
              <a:t>Traditional OS-approach for networking: All processes share</a:t>
            </a:r>
          </a:p>
          <a:p>
            <a:pPr lvl="1"/>
            <a:r>
              <a:rPr lang="en-GB"/>
              <a:t>Network interfaces</a:t>
            </a:r>
          </a:p>
          <a:p>
            <a:pPr lvl="1"/>
            <a:r>
              <a:rPr lang="en-GB"/>
              <a:t>Routing tables</a:t>
            </a:r>
          </a:p>
          <a:p>
            <a:pPr lvl="1"/>
            <a:r>
              <a:rPr lang="en-GB"/>
              <a:t>ARP tables</a:t>
            </a:r>
          </a:p>
          <a:p>
            <a:endParaRPr lang="en-GB"/>
          </a:p>
          <a:p>
            <a:r>
              <a:rPr lang="en-GB"/>
              <a:t>Linux Network Namespace: Each process has own interfaces, routing tables and ARP tables</a:t>
            </a:r>
          </a:p>
          <a:p>
            <a:pPr lvl="1"/>
            <a:r>
              <a:rPr lang="en-GB"/>
              <a:t>So one process can emulate an entire host/switch/router/...</a:t>
            </a:r>
          </a:p>
          <a:p>
            <a:pPr lvl="1"/>
            <a:r>
              <a:rPr lang="en-GB"/>
              <a:t>And communicate with other processes similar to real network nodes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79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Mininet-WiFi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Standard Mininet with additional WiFi functionality</a:t>
            </a:r>
          </a:p>
          <a:p>
            <a:endParaRPr lang="en-GB"/>
          </a:p>
          <a:p>
            <a:r>
              <a:rPr lang="en-GB"/>
              <a:t>Uses standard Linux WiFi drivers</a:t>
            </a:r>
          </a:p>
          <a:p>
            <a:pPr lvl="1"/>
            <a:r>
              <a:rPr lang="en-GB"/>
              <a:t>Standard Linux commands can be used for network configuration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Supplementary reading: Fontes, Ramon R., et al., “Mininet-WiFi: Emulating Software-Defined Wireless Networks”, Proc. 11th international Conference on Network and Service Management, Cnsm 2015, 2015.</a:t>
            </a:r>
          </a:p>
          <a:p>
            <a:pPr lvl="1"/>
            <a:r>
              <a:rPr lang="en-GB"/>
              <a:t>DTU Library: https://findit.dtu.dk/en/catalog/2501698212</a:t>
            </a:r>
          </a:p>
        </p:txBody>
      </p:sp>
    </p:spTree>
    <p:extLst>
      <p:ext uri="{BB962C8B-B14F-4D97-AF65-F5344CB8AC3E}">
        <p14:creationId xmlns:p14="http://schemas.microsoft.com/office/powerpoint/2010/main" val="2952457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Configure the VM for best performance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Maximize available memory and CPU:</a:t>
            </a:r>
          </a:p>
          <a:p>
            <a:pPr lvl="1"/>
            <a:r>
              <a:rPr lang="en-GB"/>
              <a:t>Select the VM (</a:t>
            </a:r>
            <a:r>
              <a:rPr lang="en-GB" b="1"/>
              <a:t>VM34351v2</a:t>
            </a:r>
            <a:r>
              <a:rPr lang="en-GB"/>
              <a:t>) in VirtualBox’s window (left) and click on Settings (top)</a:t>
            </a:r>
            <a:endParaRPr lang="da-DK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AA30CB-B4CF-3015-9EBD-10E05DC6A950}"/>
              </a:ext>
            </a:extLst>
          </p:cNvPr>
          <p:cNvGrpSpPr/>
          <p:nvPr/>
        </p:nvGrpSpPr>
        <p:grpSpPr>
          <a:xfrm>
            <a:off x="1773238" y="2708920"/>
            <a:ext cx="4109458" cy="3326418"/>
            <a:chOff x="118563" y="2708920"/>
            <a:chExt cx="4109458" cy="332641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563" y="2708920"/>
              <a:ext cx="3972269" cy="3326418"/>
            </a:xfrm>
            <a:prstGeom prst="rect">
              <a:avLst/>
            </a:prstGeom>
          </p:spPr>
        </p:pic>
        <p:sp>
          <p:nvSpPr>
            <p:cNvPr id="7" name="Oval 6"/>
            <p:cNvSpPr/>
            <p:nvPr/>
          </p:nvSpPr>
          <p:spPr bwMode="auto">
            <a:xfrm>
              <a:off x="2127538" y="3121185"/>
              <a:ext cx="2100483" cy="792088"/>
            </a:xfrm>
            <a:prstGeom prst="ellipse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63C544D-5B40-2803-D18C-2A212D8CEDA4}"/>
              </a:ext>
            </a:extLst>
          </p:cNvPr>
          <p:cNvGrpSpPr/>
          <p:nvPr/>
        </p:nvGrpSpPr>
        <p:grpSpPr>
          <a:xfrm>
            <a:off x="6935475" y="2708920"/>
            <a:ext cx="4151625" cy="3326418"/>
            <a:chOff x="4114996" y="2708920"/>
            <a:chExt cx="4151625" cy="332641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996" y="2708920"/>
              <a:ext cx="3972269" cy="3326418"/>
            </a:xfrm>
            <a:prstGeom prst="rect">
              <a:avLst/>
            </a:prstGeom>
          </p:spPr>
        </p:pic>
        <p:sp>
          <p:nvSpPr>
            <p:cNvPr id="8" name="Oval 7"/>
            <p:cNvSpPr/>
            <p:nvPr/>
          </p:nvSpPr>
          <p:spPr bwMode="auto">
            <a:xfrm>
              <a:off x="6166138" y="3144045"/>
              <a:ext cx="2100483" cy="792088"/>
            </a:xfrm>
            <a:prstGeom prst="ellipse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6018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Linux tips and tricks</a:t>
            </a:r>
            <a:endParaRPr lang="da-D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Course 34351 Access- and Home Networks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2390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Disable Linux’s built-in network manager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Linux has built-in network manager for autoconfiguration of network interfaces, associating with WiFi networks, obtaining IP-addresses via DHCP, etc.</a:t>
            </a:r>
          </a:p>
          <a:p>
            <a:endParaRPr lang="en-GB"/>
          </a:p>
          <a:p>
            <a:r>
              <a:rPr lang="en-GB"/>
              <a:t>Very nice for the ordinary user - but can be a royal pain in the a.. (pardon my french) if you want to control network interfaces manually (like in this exercise)</a:t>
            </a:r>
          </a:p>
          <a:p>
            <a:endParaRPr lang="en-GB"/>
          </a:p>
          <a:p>
            <a:r>
              <a:rPr lang="en-GB"/>
              <a:t>So a good habit is to disable it </a:t>
            </a:r>
            <a:r>
              <a:rPr lang="en-GB" i="1"/>
              <a:t>everytime you boot the virtual machine</a:t>
            </a:r>
            <a:endParaRPr lang="en-GB"/>
          </a:p>
          <a:p>
            <a:pPr lvl="1"/>
            <a:r>
              <a:rPr lang="en-GB"/>
              <a:t>Open a terminal (double-click on ‘Terminal Emulator’) and execute</a:t>
            </a:r>
            <a:br>
              <a:rPr lang="en-GB"/>
            </a:br>
            <a:br>
              <a:rPr lang="en-GB"/>
            </a:br>
            <a:r>
              <a:rPr lang="en-GB"/>
              <a:t>     </a:t>
            </a:r>
            <a:r>
              <a:rPr lang="en-GB" b="1">
                <a:latin typeface="Consolas" panose="020B0609020204030204" pitchFamily="49" charset="0"/>
              </a:rPr>
              <a:t>sudo systemctl stop NetworkManager.service</a:t>
            </a:r>
            <a:br>
              <a:rPr lang="en-GB" b="1">
                <a:latin typeface="Consolas" panose="020B0609020204030204" pitchFamily="49" charset="0"/>
              </a:rPr>
            </a:b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490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Miscellaneous</a:t>
            </a:r>
            <a:endParaRPr lang="da-DK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Changing keyboard layout:</a:t>
            </a:r>
          </a:p>
          <a:p>
            <a:pPr lvl="1"/>
            <a:r>
              <a:rPr lang="en-GB"/>
              <a:t>Click on “mouse” at the top left and select Settings =&gt; Keyboard</a:t>
            </a:r>
          </a:p>
          <a:p>
            <a:pPr lvl="1"/>
            <a:r>
              <a:rPr lang="en-GB"/>
              <a:t>Keyboard layout can be changed under the Layout tab</a:t>
            </a:r>
          </a:p>
          <a:p>
            <a:endParaRPr lang="en-GB"/>
          </a:p>
          <a:p>
            <a:r>
              <a:rPr lang="en-GB"/>
              <a:t>Changing the display resolution</a:t>
            </a:r>
          </a:p>
          <a:p>
            <a:pPr lvl="1"/>
            <a:r>
              <a:rPr lang="en-GB"/>
              <a:t>Click on “mouse” at the top left and select Settings =&gt; Display</a:t>
            </a:r>
          </a:p>
          <a:p>
            <a:pPr lvl="1"/>
            <a:r>
              <a:rPr lang="en-GB"/>
              <a:t>Select a suitable resolution for your computer and click Apply</a:t>
            </a:r>
          </a:p>
          <a:p>
            <a:pPr lvl="2"/>
            <a:r>
              <a:rPr lang="en-GB"/>
              <a:t>And click “Keep ...” in the next dialog box if the resolution is to your liking</a:t>
            </a:r>
          </a:p>
          <a:p>
            <a:endParaRPr lang="en-GB"/>
          </a:p>
          <a:p>
            <a:r>
              <a:rPr lang="en-GB"/>
              <a:t>The application Screenshot (under Accessories) can be used to make screenshots</a:t>
            </a:r>
          </a:p>
          <a:p>
            <a:endParaRPr lang="en-GB"/>
          </a:p>
          <a:p>
            <a:r>
              <a:rPr lang="en-GB"/>
              <a:t>Wireshark can save captured traffic in *.pcap files for processing later</a:t>
            </a:r>
          </a:p>
          <a:p>
            <a:pPr lvl="1"/>
            <a:r>
              <a:rPr lang="en-GB"/>
              <a:t>Even in your host OS if you have installed Wireshark here (but who hasn’t?)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864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Sharing files between the VM and the host</a:t>
            </a:r>
            <a:endParaRPr lang="da-DK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Solution #1: Use the browser in the VM to upload files (screenshots, capture files from Wireshark, ...) to your cloud drive (Google Drive, Onedrive, ...) and use a browser in the host OS to download them again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700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053D1-7126-F1F5-5BE5-9BC6BA912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D0A647-7758-560D-0696-9DC24DC7E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Sharing files between the VM and the host</a:t>
            </a:r>
            <a:endParaRPr lang="da-DK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C00B8A-645B-F694-3D4F-CCFFD270F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Solution #2: Set up a shared folder between the host OS and the VM:</a:t>
            </a:r>
          </a:p>
          <a:p>
            <a:pPr lvl="1"/>
            <a:r>
              <a:rPr lang="en-GB"/>
              <a:t>Create a new folder in your host OS for sharing files with the VM</a:t>
            </a:r>
          </a:p>
          <a:p>
            <a:pPr lvl="1"/>
            <a:r>
              <a:rPr lang="en-GB"/>
              <a:t>When the VM is shut down: Select the VM, choose Settings, choose Shared Folders</a:t>
            </a:r>
          </a:p>
          <a:p>
            <a:pPr lvl="2"/>
            <a:r>
              <a:rPr lang="en-GB"/>
              <a:t>1) Click on “</a:t>
            </a:r>
            <a:r>
              <a:rPr lang="en-GB" i="1"/>
              <a:t>Folder icon with a green plus</a:t>
            </a:r>
            <a:r>
              <a:rPr lang="en-GB"/>
              <a:t>”</a:t>
            </a:r>
          </a:p>
          <a:p>
            <a:pPr lvl="2"/>
            <a:r>
              <a:rPr lang="en-GB"/>
              <a:t>2) Configure:</a:t>
            </a:r>
          </a:p>
          <a:p>
            <a:pPr lvl="3"/>
            <a:r>
              <a:rPr lang="en-GB"/>
              <a:t>Folder path: Full path of the new folder</a:t>
            </a:r>
            <a:br>
              <a:rPr lang="en-GB"/>
            </a:br>
            <a:r>
              <a:rPr lang="en-GB"/>
              <a:t>in your host OS</a:t>
            </a:r>
          </a:p>
          <a:p>
            <a:pPr lvl="3"/>
            <a:r>
              <a:rPr lang="en-GB"/>
              <a:t>Foldername: Anything </a:t>
            </a:r>
            <a:r>
              <a:rPr lang="en-GB" i="1"/>
              <a:t>but the name</a:t>
            </a:r>
            <a:br>
              <a:rPr lang="en-GB" i="1"/>
            </a:br>
            <a:r>
              <a:rPr lang="en-GB" i="1"/>
              <a:t>of the folder in the host OS</a:t>
            </a:r>
          </a:p>
          <a:p>
            <a:pPr lvl="3"/>
            <a:r>
              <a:rPr lang="en-GB"/>
              <a:t>Mount point: “/home/user/Shared”</a:t>
            </a:r>
          </a:p>
          <a:p>
            <a:pPr lvl="3"/>
            <a:r>
              <a:rPr lang="en-GB"/>
              <a:t>Check “Auto-mount”</a:t>
            </a:r>
          </a:p>
          <a:p>
            <a:pPr lvl="1"/>
            <a:endParaRPr lang="en-GB"/>
          </a:p>
          <a:p>
            <a:pPr lvl="1"/>
            <a:r>
              <a:rPr lang="en-GB"/>
              <a:t>After start of the VM: You should be able</a:t>
            </a:r>
            <a:br>
              <a:rPr lang="en-GB"/>
            </a:br>
            <a:r>
              <a:rPr lang="en-GB"/>
              <a:t>to share files in the Shared folder in the VM</a:t>
            </a:r>
          </a:p>
          <a:p>
            <a:pPr lvl="1"/>
            <a:endParaRPr lang="en-GB"/>
          </a:p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F6FFB0-BBAE-677F-3478-AE9C91A36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502" y="3064343"/>
            <a:ext cx="5234360" cy="324497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3AAAAFB-90A9-4186-D15A-340DC39F7CE9}"/>
              </a:ext>
            </a:extLst>
          </p:cNvPr>
          <p:cNvCxnSpPr/>
          <p:nvPr/>
        </p:nvCxnSpPr>
        <p:spPr bwMode="auto">
          <a:xfrm>
            <a:off x="11423798" y="3979117"/>
            <a:ext cx="360040" cy="96205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5EEB8B-6782-E63C-BAC3-61BEFD3E076E}"/>
              </a:ext>
            </a:extLst>
          </p:cNvPr>
          <p:cNvCxnSpPr/>
          <p:nvPr/>
        </p:nvCxnSpPr>
        <p:spPr bwMode="auto">
          <a:xfrm>
            <a:off x="8039422" y="4581128"/>
            <a:ext cx="864096" cy="1057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04ED478-7C26-A7FA-9A3F-4788159072B8}"/>
              </a:ext>
            </a:extLst>
          </p:cNvPr>
          <p:cNvSpPr txBox="1"/>
          <p:nvPr/>
        </p:nvSpPr>
        <p:spPr>
          <a:xfrm flipH="1">
            <a:off x="11257017" y="3732896"/>
            <a:ext cx="20518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B9E2D1-C6E0-A1A6-C3D3-6E75CD2C2755}"/>
              </a:ext>
            </a:extLst>
          </p:cNvPr>
          <p:cNvSpPr txBox="1"/>
          <p:nvPr/>
        </p:nvSpPr>
        <p:spPr>
          <a:xfrm flipH="1">
            <a:off x="7835862" y="4418389"/>
            <a:ext cx="20518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da-DK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45800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BF401-0B45-F366-9F43-11048DAC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91884-BC9D-9A00-4495-066F3F157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Mininet-WiFi tutorial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1D8E6-ED1E-B66C-C445-13DCBBDB67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Course 34351 Access- and Home Networks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09064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Mininet-WiFi tutorial (Step 1)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Start a terminal window and enter the command: </a:t>
            </a:r>
            <a:r>
              <a:rPr lang="en-GB" b="1">
                <a:latin typeface="Consolas" panose="020B0609020204030204" pitchFamily="49" charset="0"/>
              </a:rPr>
              <a:t>sudo mn --wifi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Try to decode the output</a:t>
            </a:r>
          </a:p>
          <a:p>
            <a:r>
              <a:rPr lang="en-GB"/>
              <a:t>Congratulations: Now you have a small WiFi network with an Access Point (ap1) and two stations (sta1 and sta2) running inside your computer</a:t>
            </a:r>
          </a:p>
          <a:p>
            <a:endParaRPr lang="da-DK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750" y="2060848"/>
            <a:ext cx="6840760" cy="307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83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570B-ADC9-B1D2-120A-97564B4B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Mininet-WiFi tutorial (Step 2)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C3DED-00D4-94ED-0779-31FC09948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You can run Linux commands on the individual network nodes from the CLI:</a:t>
            </a:r>
          </a:p>
          <a:p>
            <a:pPr lvl="1"/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ap1 ip address show</a:t>
            </a:r>
          </a:p>
          <a:p>
            <a:pPr lvl="2"/>
            <a:r>
              <a:rPr lang="en-GB"/>
              <a:t>Runs the ‘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ip address show</a:t>
            </a:r>
            <a:r>
              <a:rPr lang="en-GB"/>
              <a:t>’ command on the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ap1 </a:t>
            </a:r>
            <a:r>
              <a:rPr lang="en-GB"/>
              <a:t>network node (displays IPv4 and IPv6 addresses assigned to any interface of the ap1 network node)</a:t>
            </a:r>
          </a:p>
          <a:p>
            <a:pPr lvl="1"/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sta1 ip link show</a:t>
            </a:r>
          </a:p>
          <a:p>
            <a:pPr lvl="2"/>
            <a:r>
              <a:rPr lang="en-GB"/>
              <a:t>Runs the ‘ip link show’ command on the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sta1 </a:t>
            </a:r>
            <a:r>
              <a:rPr lang="en-GB"/>
              <a:t>network node (displays interfaces of the sta1 network node</a:t>
            </a:r>
          </a:p>
          <a:p>
            <a:pPr lvl="1"/>
            <a:r>
              <a:rPr lang="en-GB"/>
              <a:t>etc.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76769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Mininet-WiFi tutorial (Step 3)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Check connectivity: Use the command</a:t>
            </a:r>
            <a:r>
              <a:rPr lang="en-GB">
                <a:latin typeface="Consolas" panose="020B0609020204030204" pitchFamily="49" charset="0"/>
              </a:rPr>
              <a:t> </a:t>
            </a:r>
            <a:r>
              <a:rPr lang="en-GB" b="1">
                <a:latin typeface="Consolas" panose="020B0609020204030204" pitchFamily="49" charset="0"/>
              </a:rPr>
              <a:t>pingpair</a:t>
            </a:r>
            <a:r>
              <a:rPr lang="en-GB">
                <a:latin typeface="Consolas" panose="020B0609020204030204" pitchFamily="49" charset="0"/>
              </a:rPr>
              <a:t> </a:t>
            </a:r>
            <a:r>
              <a:rPr lang="en-GB"/>
              <a:t>at the CLI</a:t>
            </a:r>
          </a:p>
          <a:p>
            <a:endParaRPr lang="en-GB"/>
          </a:p>
          <a:p>
            <a:r>
              <a:rPr lang="en-GB"/>
              <a:t>Can sta1 and sta2 communicate?</a:t>
            </a:r>
          </a:p>
          <a:p>
            <a:endParaRPr lang="en-GB"/>
          </a:p>
          <a:p>
            <a:r>
              <a:rPr lang="en-GB"/>
              <a:t>What are the IPv4-adresses of the stations? (Focus on the (wireless) link between the stations and the access point)</a:t>
            </a:r>
          </a:p>
          <a:p>
            <a:pPr lvl="1"/>
            <a:r>
              <a:rPr lang="en-GB"/>
              <a:t>sta1?</a:t>
            </a:r>
          </a:p>
          <a:p>
            <a:pPr lvl="1"/>
            <a:r>
              <a:rPr lang="en-GB"/>
              <a:t>sta2?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80943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Mininet-WiFi tutorial (Step 4)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Start a new shell (Ctrl+Shift+T for a new tab or Ctrl+Shift+N for a new window)</a:t>
            </a:r>
          </a:p>
          <a:p>
            <a:pPr lvl="1"/>
            <a:r>
              <a:rPr lang="en-GB"/>
              <a:t>In the new shell, start the Wireshark packet sniffer program:</a:t>
            </a:r>
            <a:r>
              <a:rPr lang="en-GB">
                <a:latin typeface="Consolas" panose="020B0609020204030204" pitchFamily="49" charset="0"/>
              </a:rPr>
              <a:t> </a:t>
            </a:r>
            <a:r>
              <a:rPr lang="en-GB" b="1">
                <a:latin typeface="Consolas" panose="020B0609020204030204" pitchFamily="49" charset="0"/>
              </a:rPr>
              <a:t>sudo wireshark</a:t>
            </a:r>
          </a:p>
          <a:p>
            <a:endParaRPr lang="en-GB"/>
          </a:p>
          <a:p>
            <a:endParaRPr lang="en-GB"/>
          </a:p>
          <a:p>
            <a:endParaRPr lang="da-DK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060" y="2420887"/>
            <a:ext cx="5223664" cy="3830687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2179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Mininet-WiFi tutorial (Step 5)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Double-click on the</a:t>
            </a:r>
            <a:r>
              <a:rPr lang="en-GB">
                <a:latin typeface="Consolas" panose="020B0609020204030204" pitchFamily="49" charset="0"/>
              </a:rPr>
              <a:t> </a:t>
            </a:r>
            <a:r>
              <a:rPr lang="en-GB" b="1">
                <a:latin typeface="Consolas" panose="020B0609020204030204" pitchFamily="49" charset="0"/>
              </a:rPr>
              <a:t>ap1-wlan1</a:t>
            </a:r>
            <a:r>
              <a:rPr lang="en-GB">
                <a:latin typeface="Consolas" panose="020B0609020204030204" pitchFamily="49" charset="0"/>
              </a:rPr>
              <a:t> </a:t>
            </a:r>
            <a:r>
              <a:rPr lang="en-GB"/>
              <a:t>interface to start capturing traffic from this interface</a:t>
            </a:r>
          </a:p>
          <a:p>
            <a:endParaRPr lang="en-GB"/>
          </a:p>
          <a:p>
            <a:r>
              <a:rPr lang="en-GB"/>
              <a:t>In the Mininet-WiFi CLI:</a:t>
            </a:r>
            <a:r>
              <a:rPr lang="en-GB">
                <a:latin typeface="Consolas" panose="020B0609020204030204" pitchFamily="49" charset="0"/>
              </a:rPr>
              <a:t> </a:t>
            </a:r>
            <a:r>
              <a:rPr lang="en-GB" b="1">
                <a:latin typeface="Consolas" panose="020B0609020204030204" pitchFamily="49" charset="0"/>
              </a:rPr>
              <a:t>sta1 ping sta2</a:t>
            </a:r>
          </a:p>
          <a:p>
            <a:pPr lvl="1"/>
            <a:r>
              <a:rPr lang="en-GB"/>
              <a:t>Press Ctrl-C after some seconds to stop pinging</a:t>
            </a:r>
          </a:p>
          <a:p>
            <a:endParaRPr lang="en-GB"/>
          </a:p>
          <a:p>
            <a:r>
              <a:rPr lang="en-GB"/>
              <a:t>Switch to Wireshark and stop the capture</a:t>
            </a:r>
          </a:p>
          <a:p>
            <a:endParaRPr lang="en-GB"/>
          </a:p>
          <a:p>
            <a:r>
              <a:rPr lang="en-GB"/>
              <a:t>Look at the packets captured – are they as expected?</a:t>
            </a:r>
          </a:p>
          <a:p>
            <a:endParaRPr lang="en-GB"/>
          </a:p>
          <a:p>
            <a:endParaRPr lang="en-GB"/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8053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Mininet-WiFi tutorial (Step 6)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Enable the hwsim0 interface:</a:t>
            </a:r>
          </a:p>
          <a:p>
            <a:pPr lvl="1"/>
            <a:r>
              <a:rPr lang="en-GB"/>
              <a:t>In the Mininet-WiFi CLI:</a:t>
            </a:r>
            <a:r>
              <a:rPr lang="en-GB">
                <a:latin typeface="Consolas" panose="020B0609020204030204" pitchFamily="49" charset="0"/>
              </a:rPr>
              <a:t> </a:t>
            </a:r>
            <a:r>
              <a:rPr lang="en-GB" b="1">
                <a:latin typeface="Consolas" panose="020B0609020204030204" pitchFamily="49" charset="0"/>
              </a:rPr>
              <a:t>sh ip link set dev hwsim0 up</a:t>
            </a:r>
          </a:p>
          <a:p>
            <a:endParaRPr lang="en-GB"/>
          </a:p>
          <a:p>
            <a:r>
              <a:rPr lang="en-GB"/>
              <a:t>Start a new capture in Wireshark using the</a:t>
            </a:r>
            <a:r>
              <a:rPr lang="en-GB">
                <a:latin typeface="Consolas" panose="020B0609020204030204" pitchFamily="49" charset="0"/>
              </a:rPr>
              <a:t> </a:t>
            </a:r>
            <a:r>
              <a:rPr lang="en-GB" b="1">
                <a:latin typeface="Consolas" panose="020B0609020204030204" pitchFamily="49" charset="0"/>
              </a:rPr>
              <a:t>hwsim0</a:t>
            </a:r>
            <a:r>
              <a:rPr lang="en-GB">
                <a:latin typeface="Consolas" panose="020B0609020204030204" pitchFamily="49" charset="0"/>
              </a:rPr>
              <a:t> </a:t>
            </a:r>
            <a:r>
              <a:rPr lang="en-GB"/>
              <a:t>interface</a:t>
            </a:r>
          </a:p>
          <a:p>
            <a:r>
              <a:rPr lang="en-GB"/>
              <a:t>Generate ping-traffic as before - Stop the wireshark capture and look at the packets captured – what is different from the previous capture?</a:t>
            </a:r>
          </a:p>
          <a:p>
            <a:pPr lvl="1"/>
            <a:r>
              <a:rPr lang="en-GB"/>
              <a:t>Don’t worry if you don’t understand</a:t>
            </a:r>
            <a:br>
              <a:rPr lang="en-GB"/>
            </a:br>
            <a:r>
              <a:rPr lang="en-GB"/>
              <a:t>what the extra packets are all about –</a:t>
            </a:r>
            <a:br>
              <a:rPr lang="en-GB"/>
            </a:br>
            <a:r>
              <a:rPr lang="en-GB"/>
              <a:t>we’ll cover that in next week’s lecture</a:t>
            </a:r>
          </a:p>
          <a:p>
            <a:endParaRPr lang="en-GB"/>
          </a:p>
          <a:p>
            <a:r>
              <a:rPr lang="en-GB"/>
              <a:t>Enter icmp in Wiresharks display filter:</a:t>
            </a:r>
          </a:p>
          <a:p>
            <a:pPr lvl="1"/>
            <a:r>
              <a:rPr lang="en-GB"/>
              <a:t>Why are you seeing two ping requests</a:t>
            </a:r>
            <a:br>
              <a:rPr lang="en-GB"/>
            </a:br>
            <a:r>
              <a:rPr lang="en-GB"/>
              <a:t>and two replys every time?</a:t>
            </a:r>
          </a:p>
          <a:p>
            <a:endParaRPr lang="en-GB"/>
          </a:p>
          <a:p>
            <a:r>
              <a:rPr lang="en-GB"/>
              <a:t>Close Wireshark when you’re done</a:t>
            </a:r>
          </a:p>
          <a:p>
            <a:pPr marL="0" indent="0">
              <a:buNone/>
            </a:pPr>
            <a:r>
              <a:rPr lang="en-GB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230" y="3945581"/>
            <a:ext cx="4829175" cy="161925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 bwMode="auto">
          <a:xfrm>
            <a:off x="5886490" y="5006320"/>
            <a:ext cx="384770" cy="457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418110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Mininet-WiFi tutorial (Step 7)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Start an Xterm session on sta2: </a:t>
            </a:r>
            <a:r>
              <a:rPr lang="en-GB" b="1">
                <a:latin typeface="Consolas" panose="020B0609020204030204" pitchFamily="49" charset="0"/>
              </a:rPr>
              <a:t>xterm sta2</a:t>
            </a:r>
            <a:endParaRPr lang="en-GB">
              <a:latin typeface="Consolas" panose="020B0609020204030204" pitchFamily="49" charset="0"/>
            </a:endParaRPr>
          </a:p>
          <a:p>
            <a:pPr lvl="1"/>
            <a:r>
              <a:rPr lang="en-GB"/>
              <a:t>Use </a:t>
            </a:r>
            <a:r>
              <a:rPr lang="en-GB" b="1"/>
              <a:t>Ctrl</a:t>
            </a:r>
            <a:r>
              <a:rPr lang="en-GB"/>
              <a:t> </a:t>
            </a:r>
            <a:r>
              <a:rPr lang="en-GB" b="1"/>
              <a:t>+ Rightclick</a:t>
            </a:r>
            <a:r>
              <a:rPr lang="en-GB"/>
              <a:t> in the xterm window to change font size</a:t>
            </a:r>
          </a:p>
          <a:p>
            <a:pPr lvl="1"/>
            <a:r>
              <a:rPr lang="en-GB"/>
              <a:t>In the Xterm window you can execute Linux commands directly</a:t>
            </a:r>
            <a:br>
              <a:rPr lang="en-GB"/>
            </a:br>
            <a:r>
              <a:rPr lang="en-GB"/>
              <a:t>without prepending the name first</a:t>
            </a:r>
          </a:p>
          <a:p>
            <a:endParaRPr lang="en-GB"/>
          </a:p>
          <a:p>
            <a:r>
              <a:rPr lang="en-GB"/>
              <a:t>In the xterm window for sta2:</a:t>
            </a:r>
          </a:p>
          <a:p>
            <a:pPr lvl="1"/>
            <a:r>
              <a:rPr lang="en-GB"/>
              <a:t>Determine the IPv4 address of the sta2 node</a:t>
            </a:r>
          </a:p>
          <a:p>
            <a:pPr lvl="1"/>
            <a:r>
              <a:rPr lang="en-GB"/>
              <a:t>Start an IPerf server with </a:t>
            </a:r>
            <a:r>
              <a:rPr lang="en-GB" b="1">
                <a:latin typeface="Consolas" panose="020B0609020204030204" pitchFamily="49" charset="0"/>
              </a:rPr>
              <a:t>iperf -s</a:t>
            </a:r>
          </a:p>
          <a:p>
            <a:endParaRPr lang="en-GB"/>
          </a:p>
          <a:p>
            <a:r>
              <a:rPr lang="en-GB"/>
              <a:t>In the normal Mininet-WiFi CLI: </a:t>
            </a:r>
            <a:r>
              <a:rPr lang="en-GB" b="1">
                <a:latin typeface="Consolas" panose="020B0609020204030204" pitchFamily="49" charset="0"/>
              </a:rPr>
              <a:t>sta1 iperf -c sta2</a:t>
            </a:r>
          </a:p>
          <a:p>
            <a:pPr lvl="1"/>
            <a:r>
              <a:rPr lang="en-GB"/>
              <a:t>Running this command takes approx. 10 seconds</a:t>
            </a:r>
          </a:p>
          <a:p>
            <a:pPr lvl="1"/>
            <a:r>
              <a:rPr lang="en-GB"/>
              <a:t>How would you interpret the output? What if you run the command multiple times?</a:t>
            </a:r>
          </a:p>
          <a:p>
            <a:pPr lvl="1"/>
            <a:r>
              <a:rPr lang="en-GB"/>
              <a:t>Use </a:t>
            </a:r>
            <a:r>
              <a:rPr lang="en-GB" b="1">
                <a:latin typeface="Consolas" panose="020B0609020204030204" pitchFamily="49" charset="0"/>
              </a:rPr>
              <a:t>iperf -c “sta2’s IP-address”</a:t>
            </a:r>
            <a:r>
              <a:rPr lang="en-GB"/>
              <a:t> (without the quotation signs) if you run this in an XTerm on sta1</a:t>
            </a:r>
          </a:p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FFF44-E8D4-8390-49FB-1E1429D2A06E}"/>
              </a:ext>
            </a:extLst>
          </p:cNvPr>
          <p:cNvSpPr txBox="1"/>
          <p:nvPr/>
        </p:nvSpPr>
        <p:spPr>
          <a:xfrm>
            <a:off x="8842829" y="1706328"/>
            <a:ext cx="3145715" cy="1303809"/>
          </a:xfrm>
          <a:prstGeom prst="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72000" tIns="36000" rIns="72000" bIns="3600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GB" b="1">
                <a:solidFill>
                  <a:schemeClr val="bg1"/>
                </a:solidFill>
                <a:latin typeface="+mn-lt"/>
              </a:rPr>
              <a:t>Note</a:t>
            </a:r>
            <a:r>
              <a:rPr lang="en-GB">
                <a:solidFill>
                  <a:schemeClr val="bg1"/>
                </a:solidFill>
                <a:latin typeface="+mn-lt"/>
              </a:rPr>
              <a:t>: We cannot start a program</a:t>
            </a:r>
            <a:br>
              <a:rPr lang="en-GB">
                <a:solidFill>
                  <a:schemeClr val="bg1"/>
                </a:solidFill>
                <a:latin typeface="+mn-lt"/>
              </a:rPr>
            </a:br>
            <a:r>
              <a:rPr lang="en-GB">
                <a:solidFill>
                  <a:schemeClr val="bg1"/>
                </a:solidFill>
                <a:latin typeface="+mn-lt"/>
              </a:rPr>
              <a:t>in the background from the CLI, </a:t>
            </a:r>
            <a:br>
              <a:rPr lang="en-GB">
                <a:solidFill>
                  <a:schemeClr val="bg1"/>
                </a:solidFill>
                <a:latin typeface="+mn-lt"/>
              </a:rPr>
            </a:br>
            <a:r>
              <a:rPr lang="en-GB">
                <a:solidFill>
                  <a:schemeClr val="bg1"/>
                </a:solidFill>
                <a:latin typeface="+mn-lt"/>
              </a:rPr>
              <a:t>so we’ll start an Xterm window</a:t>
            </a:r>
            <a:br>
              <a:rPr lang="en-GB">
                <a:solidFill>
                  <a:schemeClr val="bg1"/>
                </a:solidFill>
                <a:latin typeface="+mn-lt"/>
              </a:rPr>
            </a:br>
            <a:r>
              <a:rPr lang="en-GB">
                <a:solidFill>
                  <a:schemeClr val="bg1"/>
                </a:solidFill>
                <a:latin typeface="+mn-lt"/>
              </a:rPr>
              <a:t>first (on the relevant host) where</a:t>
            </a:r>
            <a:br>
              <a:rPr lang="en-GB">
                <a:solidFill>
                  <a:schemeClr val="bg1"/>
                </a:solidFill>
                <a:latin typeface="+mn-lt"/>
              </a:rPr>
            </a:br>
            <a:r>
              <a:rPr lang="en-GB">
                <a:solidFill>
                  <a:schemeClr val="bg1"/>
                </a:solidFill>
                <a:latin typeface="+mn-lt"/>
              </a:rPr>
              <a:t>we can execute the program.</a:t>
            </a:r>
            <a:endParaRPr lang="da-DK" dirty="0" err="1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0796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63D20B-DC08-0A39-1E87-A4A03D45F425}"/>
              </a:ext>
            </a:extLst>
          </p:cNvPr>
          <p:cNvSpPr txBox="1"/>
          <p:nvPr/>
        </p:nvSpPr>
        <p:spPr>
          <a:xfrm>
            <a:off x="1667501" y="2584190"/>
            <a:ext cx="8855410" cy="1689621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0"/>
          </a:effectLst>
        </p:spPr>
        <p:txBody>
          <a:bodyPr wrap="none" lIns="360000" tIns="288000" rIns="360000" bIns="288000" rtlCol="0">
            <a:spAutoFit/>
          </a:bodyPr>
          <a:lstStyle/>
          <a:p>
            <a:pPr algn="ctr">
              <a:spcBef>
                <a:spcPts val="432"/>
              </a:spcBef>
            </a:pPr>
            <a:r>
              <a:rPr lang="en-GB" sz="2400" b="1" i="1">
                <a:solidFill>
                  <a:schemeClr val="bg1"/>
                </a:solidFill>
                <a:latin typeface="+mn-lt"/>
              </a:rPr>
              <a:t>Congratulations – You have completed the Mininet-WiFi</a:t>
            </a:r>
            <a:br>
              <a:rPr lang="en-GB" sz="2400" b="1" i="1">
                <a:solidFill>
                  <a:schemeClr val="bg1"/>
                </a:solidFill>
                <a:latin typeface="+mn-lt"/>
              </a:rPr>
            </a:br>
            <a:r>
              <a:rPr lang="en-GB" sz="2400" b="1" i="1">
                <a:solidFill>
                  <a:schemeClr val="bg1"/>
                </a:solidFill>
                <a:latin typeface="+mn-lt"/>
              </a:rPr>
              <a:t>tutorial and are now ready for the exciting two-part</a:t>
            </a:r>
            <a:br>
              <a:rPr lang="en-GB" sz="2400" b="1" i="1">
                <a:solidFill>
                  <a:schemeClr val="bg1"/>
                </a:solidFill>
                <a:latin typeface="+mn-lt"/>
              </a:rPr>
            </a:br>
            <a:r>
              <a:rPr lang="en-GB" sz="2400" b="1" i="1">
                <a:solidFill>
                  <a:schemeClr val="bg1"/>
                </a:solidFill>
                <a:latin typeface="+mn-lt"/>
              </a:rPr>
              <a:t>Mininet-WiFi exercise starting next week!</a:t>
            </a:r>
            <a:r>
              <a:rPr lang="en-GB" sz="2400">
                <a:solidFill>
                  <a:schemeClr val="bg1"/>
                </a:solidFill>
                <a:latin typeface="+mn-lt"/>
              </a:rPr>
              <a:t> </a:t>
            </a:r>
            <a:r>
              <a:rPr lang="en-GB" sz="2400">
                <a:solidFill>
                  <a:schemeClr val="bg1"/>
                </a:solidFill>
                <a:latin typeface="+mn-lt"/>
                <a:sym typeface="Wingdings" panose="05000000000000000000" pitchFamily="2" charset="2"/>
              </a:rPr>
              <a:t></a:t>
            </a:r>
            <a:endParaRPr lang="da-DK" sz="2400" dirty="0" err="1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3208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Custom 1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FFFFFF"/>
      </a:hlink>
      <a:folHlink>
        <a:srgbClr val="FFFFFF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3B38FA3B-2246-40E5-A61A-EA1559A3CD76}" vid="{D5F764FD-A73C-4B6C-BF48-3536DEB79AD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128185","version":"1.2"}]]></TemplafySlideTemplateConfiguration>
</file>

<file path=customXml/item4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{"name":"Date","value":"4Xm7d242HGo446IH5nRjQA=="},{"name":"PresentationTitle","value":"ZR/I84ubq+6CkRKNk7nn9w=="}]}]]></TemplafyFormConfiguration>
</file>

<file path=customXml/item5.xml><?xml version="1.0" encoding="utf-8"?>
<TemplafyTemplateConfiguration><![CDATA[{"elementsMetadata":[{"type":"shape","id":"2fce62a0-f28a-44e1-a519-0cbe37b25f7a","elementConfiguration":{"binding":"UserProfile.Offices.Workarea_{{DocumentLanguage}}","disableUpdates":false,"type":"text"}},{"type":"shape","id":"58465eeb-cfe0-4970-97ec-88179dc0a9c2","elementConfiguration":{"binding":"Form.Date","format":"{{DateFormats.GeneralDate}}","disableUpdates":false,"type":"date"}},{"type":"shape","id":"5020bdfb-1912-4d6d-a5c3-71b7da283692","elementConfiguration":{"binding":"Form.PresentationTitle","disableUpdates":false,"type":"text"}},{"type":"shape","id":"8d5b95d1-8a23-4044-9620-bf5e7305a170","elementConfiguration":{"binding":"UserProfile.Offices.Workarea_{{DocumentLanguage}}","disableUpdates":false,"type":"text"}},{"type":"shape","id":"79fbb3c3-dd89-47ef-91e9-e0bd2bb0942f","elementConfiguration":{"binding":"Form.Date","format":"{{DateFormats.GeneralDate}}","disableUpdates":false,"type":"date"}},{"type":"shape","id":"5e9447ba-0dff-46ec-ac33-540c046ca40a","elementConfiguration":{"binding":"Form.PresentationTitle","disableUpdates":false,"type":"text"}}],"transformationConfigurations":[{"language":"{{DocumentLanguage}}","disableUpdates":false,"type":"proofingLanguage"}],"enableDocumentContentUpdater":true,"templateName":"DTU Template 16_9 - Corporate red","templateDescription":"","version":"1.2"}]]></TemplafyTemplateConfiguration>
</file>

<file path=customXml/item6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753289","version":"1.2"}]]></TemplafySlideTemplateConfiguration>
</file>

<file path=customXml/itemProps1.xml><?xml version="1.0" encoding="utf-8"?>
<ds:datastoreItem xmlns:ds="http://schemas.openxmlformats.org/officeDocument/2006/customXml" ds:itemID="{F4C08C7F-F953-44DE-ACDE-930692BDDB0F}">
  <ds:schemaRefs/>
</ds:datastoreItem>
</file>

<file path=customXml/itemProps2.xml><?xml version="1.0" encoding="utf-8"?>
<ds:datastoreItem xmlns:ds="http://schemas.openxmlformats.org/officeDocument/2006/customXml" ds:itemID="{56C8BFB2-A911-4310-9D4A-421D773FAFA6}">
  <ds:schemaRefs/>
</ds:datastoreItem>
</file>

<file path=customXml/itemProps3.xml><?xml version="1.0" encoding="utf-8"?>
<ds:datastoreItem xmlns:ds="http://schemas.openxmlformats.org/officeDocument/2006/customXml" ds:itemID="{11FAAC39-0A3A-4CC2-A9C1-60940B78AE17}">
  <ds:schemaRefs/>
</ds:datastoreItem>
</file>

<file path=customXml/itemProps4.xml><?xml version="1.0" encoding="utf-8"?>
<ds:datastoreItem xmlns:ds="http://schemas.openxmlformats.org/officeDocument/2006/customXml" ds:itemID="{05DC2B94-7C1B-4C14-83B0-9CD2A82C27E0}">
  <ds:schemaRefs/>
</ds:datastoreItem>
</file>

<file path=customXml/itemProps5.xml><?xml version="1.0" encoding="utf-8"?>
<ds:datastoreItem xmlns:ds="http://schemas.openxmlformats.org/officeDocument/2006/customXml" ds:itemID="{1334258C-C3E7-4029-A615-C886A240FB15}">
  <ds:schemaRefs/>
</ds:datastoreItem>
</file>

<file path=customXml/itemProps6.xml><?xml version="1.0" encoding="utf-8"?>
<ds:datastoreItem xmlns:ds="http://schemas.openxmlformats.org/officeDocument/2006/customXml" ds:itemID="{02E7CCCE-613B-4CED-B813-E473EA1E01B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2388</TotalTime>
  <Words>1732</Words>
  <Application>Microsoft Office PowerPoint</Application>
  <PresentationFormat>Custom</PresentationFormat>
  <Paragraphs>239</Paragraphs>
  <Slides>26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Consolas</vt:lpstr>
      <vt:lpstr>Courier New</vt:lpstr>
      <vt:lpstr>Verdana</vt:lpstr>
      <vt:lpstr>Blank</vt:lpstr>
      <vt:lpstr>Introduction to Mininet-WiFi exercise</vt:lpstr>
      <vt:lpstr>Mininet-WiFi exercise</vt:lpstr>
      <vt:lpstr>How can we evaluate network performance?</vt:lpstr>
      <vt:lpstr>Measurements on a live network: Pros and cons</vt:lpstr>
      <vt:lpstr>Measurements on a test bed: Pros and cons</vt:lpstr>
      <vt:lpstr>Measurements using simulations</vt:lpstr>
      <vt:lpstr>Emulation</vt:lpstr>
      <vt:lpstr>Network emulator</vt:lpstr>
      <vt:lpstr>Mininet</vt:lpstr>
      <vt:lpstr>Mininet (2)</vt:lpstr>
      <vt:lpstr>Mininet-WiFi</vt:lpstr>
      <vt:lpstr>Configure the VM for best performance</vt:lpstr>
      <vt:lpstr>Linux tips and tricks</vt:lpstr>
      <vt:lpstr>Disable Linux’s built-in network manager</vt:lpstr>
      <vt:lpstr>Miscellaneous</vt:lpstr>
      <vt:lpstr>Sharing files between the VM and the host</vt:lpstr>
      <vt:lpstr>Sharing files between the VM and the host</vt:lpstr>
      <vt:lpstr>Mininet-WiFi tutorial</vt:lpstr>
      <vt:lpstr>Mininet-WiFi tutorial (Step 1)</vt:lpstr>
      <vt:lpstr>Mininet-WiFi tutorial (Step 2)</vt:lpstr>
      <vt:lpstr>Mininet-WiFi tutorial (Step 3)</vt:lpstr>
      <vt:lpstr>Mininet-WiFi tutorial (Step 4)</vt:lpstr>
      <vt:lpstr>Mininet-WiFi tutorial (Step 5)</vt:lpstr>
      <vt:lpstr>Mininet-WiFi tutorial (Step 6)</vt:lpstr>
      <vt:lpstr>Mininet-WiFi tutorial (Step 7)</vt:lpstr>
      <vt:lpstr>PowerPoint Presentation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Lars Staalhagen</dc:creator>
  <cp:lastModifiedBy>Lars Staalhagen</cp:lastModifiedBy>
  <cp:revision>63</cp:revision>
  <cp:lastPrinted>2022-09-08T11:41:10Z</cp:lastPrinted>
  <dcterms:created xsi:type="dcterms:W3CDTF">2021-09-08T08:37:46Z</dcterms:created>
  <dcterms:modified xsi:type="dcterms:W3CDTF">2025-02-12T14:41:42Z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enantId">
    <vt:lpwstr>dtu</vt:lpwstr>
  </property>
  <property fmtid="{D5CDD505-2E9C-101B-9397-08002B2CF9AE}" pid="4" name="TemplafyTemplateId">
    <vt:lpwstr>636784030496976655</vt:lpwstr>
  </property>
  <property fmtid="{D5CDD505-2E9C-101B-9397-08002B2CF9AE}" pid="5" name="TemplafyUserProfileId">
    <vt:lpwstr>636838302414865013</vt:lpwstr>
  </property>
  <property fmtid="{D5CDD505-2E9C-101B-9397-08002B2CF9AE}" pid="6" name="TemplafyLanguageCode">
    <vt:lpwstr>en-GB</vt:lpwstr>
  </property>
</Properties>
</file>