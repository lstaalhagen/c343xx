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7"/>
  </p:sldMasterIdLst>
  <p:notesMasterIdLst>
    <p:notesMasterId r:id="rId23"/>
  </p:notesMasterIdLst>
  <p:handoutMasterIdLst>
    <p:handoutMasterId r:id="rId24"/>
  </p:handoutMasterIdLst>
  <p:sldIdLst>
    <p:sldId id="260" r:id="rId8"/>
    <p:sldId id="266" r:id="rId9"/>
    <p:sldId id="271" r:id="rId10"/>
    <p:sldId id="267" r:id="rId11"/>
    <p:sldId id="270" r:id="rId12"/>
    <p:sldId id="273" r:id="rId13"/>
    <p:sldId id="257" r:id="rId14"/>
    <p:sldId id="274" r:id="rId15"/>
    <p:sldId id="263" r:id="rId16"/>
    <p:sldId id="268" r:id="rId17"/>
    <p:sldId id="275" r:id="rId18"/>
    <p:sldId id="264" r:id="rId19"/>
    <p:sldId id="261" r:id="rId20"/>
    <p:sldId id="269" r:id="rId21"/>
    <p:sldId id="265" r:id="rId22"/>
  </p:sldIdLst>
  <p:sldSz cx="12190413" cy="6858000"/>
  <p:notesSz cx="6797675" cy="9928225"/>
  <p:custDataLst>
    <p:tags r:id="rId25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90000"/>
    <a:srgbClr val="000000"/>
    <a:srgbClr val="FFCC00"/>
    <a:srgbClr val="FF6600"/>
    <a:srgbClr val="FF0000"/>
    <a:srgbClr val="FF0099"/>
    <a:srgbClr val="CC3399"/>
    <a:srgbClr val="660066"/>
    <a:srgbClr val="66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6098" autoAdjust="0"/>
  </p:normalViewPr>
  <p:slideViewPr>
    <p:cSldViewPr showGuides="1">
      <p:cViewPr varScale="1">
        <p:scale>
          <a:sx n="86" d="100"/>
          <a:sy n="86" d="100"/>
        </p:scale>
        <p:origin x="90" y="48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openxmlformats.org/officeDocument/2006/relationships/handoutMaster" Target="handoutMasters/handoutMaster1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0" tIns="49521" rIns="99040" bIns="49521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3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4" y="1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0" tIns="49521" rIns="99040" bIns="49521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3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30093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0" tIns="49521" rIns="99040" bIns="49521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3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4" y="9430093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0" tIns="49521" rIns="99040" bIns="49521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3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5659" cy="49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0" tIns="49521" rIns="99040" bIns="49521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018" y="1"/>
            <a:ext cx="2945659" cy="49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0" tIns="49521" rIns="99040" bIns="49521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6125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359" y="4715908"/>
            <a:ext cx="4984962" cy="4467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0" tIns="49521" rIns="99040" bIns="4952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1815"/>
            <a:ext cx="2945659" cy="49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0" tIns="49521" rIns="99040" bIns="49521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018" y="9431815"/>
            <a:ext cx="2945659" cy="49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0" tIns="49521" rIns="99040" bIns="49521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11303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76019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9777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45180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21721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66289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20031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13366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AA70F-A429-0652-6C30-869F73D59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C4A582-33F0-14CD-5477-72BCAFF20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62F28F-EFDF-D506-725A-197673B71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BEB0A-E245-97F9-75E9-96B6ED1E0D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802315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10554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2798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57877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13678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1213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dirty="0"/>
              <a:t>Click to add title one line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 dirty="0"/>
              <a:t>Click to add title one line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 dirty="0"/>
              <a:t>Click to add title one line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spcBef>
                <a:spcPts val="0"/>
              </a:spcBef>
              <a:defRPr sz="700" b="0">
                <a:noFill/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endParaRPr lang="en-GB" dirty="0"/>
          </a:p>
        </p:txBody>
      </p:sp>
      <p:sp>
        <p:nvSpPr>
          <p:cNvPr id="113676" name="text" descr="{&quot;templafy&quot;:{&quot;id&quot;:&quot;2fce62a0-f28a-44e1-a519-0cbe37b25f7a&quot;}}" title="UserProfile.Offices.Workarea_{{DocumentLanguage}}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DTU</a:t>
            </a:r>
          </a:p>
        </p:txBody>
      </p:sp>
      <p:sp>
        <p:nvSpPr>
          <p:cNvPr id="5" name="date" descr="{&quot;templafy&quot;:{&quot;id&quot;:&quot;58465eeb-cfe0-4970-97ec-88179dc0a9c2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7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pitchFamily="-80" charset="-128"/>
              </a:rPr>
              <a:t>February 20, 2025</a:t>
            </a:r>
            <a:endParaRPr kumimoji="0" lang="en-GB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text" descr="{&quot;templafy&quot;:{&quot;id&quot;:&quot;5020bdfb-1912-4d6d-a5c3-71b7da283692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149" y="6541200"/>
            <a:ext cx="5495949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GB" sz="700">
                <a:solidFill>
                  <a:schemeClr val="bg1"/>
                </a:solidFill>
                <a:latin typeface="+mn-lt"/>
              </a:rPr>
              <a:t>Mininet-WiFi exercise (Part 1)</a:t>
            </a:r>
            <a:endParaRPr lang="en-GB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5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6.xml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ininet-wifi.github.io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4358EA-4D5B-461F-997D-DE6729900D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Mininet-WiFi exercise (Part 1)</a:t>
            </a:r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8CE6942-A17C-4247-86C6-41FACF7E9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Course 34351 Access- and Home Networks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4C8C45C-947F-4981-8B3F-4F32E973C901}" type="slidenum">
              <a:rPr lang="en-GB" smtClean="0"/>
              <a:pPr/>
              <a:t>1</a:t>
            </a:fld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Mininet-WiFi exercise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The Mininet-WiFi exercise is one of the mandatory exercises in course 34351</a:t>
            </a:r>
          </a:p>
          <a:p>
            <a:endParaRPr lang="en-GB"/>
          </a:p>
          <a:p>
            <a:r>
              <a:rPr lang="en-GB"/>
              <a:t>Plan: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</a:t>
            </a:fld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223656-FC68-9731-A65B-FDE8C00A6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005927"/>
              </p:ext>
            </p:extLst>
          </p:nvPr>
        </p:nvGraphicFramePr>
        <p:xfrm>
          <a:off x="1893665" y="2780928"/>
          <a:ext cx="9074496" cy="218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624">
                  <a:extLst>
                    <a:ext uri="{9D8B030D-6E8A-4147-A177-3AD203B41FA5}">
                      <a16:colId xmlns:a16="http://schemas.microsoft.com/office/drawing/2014/main" val="1556840463"/>
                    </a:ext>
                  </a:extLst>
                </a:gridCol>
                <a:gridCol w="7848872">
                  <a:extLst>
                    <a:ext uri="{9D8B030D-6E8A-4147-A177-3AD203B41FA5}">
                      <a16:colId xmlns:a16="http://schemas.microsoft.com/office/drawing/2014/main" val="13686200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Date</a:t>
                      </a:r>
                      <a:endParaRPr lang="da-DK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Topic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1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2025-02-13</a:t>
                      </a:r>
                      <a:endParaRPr lang="da-DK" sz="16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Introduction to Mininet-WiFi, Getting</a:t>
                      </a:r>
                      <a:r>
                        <a:rPr lang="en-GB" sz="1600" baseline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the software installed and tested</a:t>
                      </a:r>
                      <a:r>
                        <a:rPr lang="en-GB" sz="1600" b="1" baseline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GB" sz="1600" b="1" baseline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da-DK" sz="1600" b="1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195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2025-02-20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Exercise</a:t>
                      </a:r>
                      <a:r>
                        <a:rPr lang="en-GB" sz="1600" baseline="0"/>
                        <a:t> part 1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157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2025-02-27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Exercise part 2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227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2025-03-06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Wrap-up if there are parts</a:t>
                      </a:r>
                      <a:r>
                        <a:rPr lang="en-GB" sz="1600" baseline="0"/>
                        <a:t> you’re missing – otherwise work on your journal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15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2025-03-13</a:t>
                      </a:r>
                      <a:endParaRPr lang="da-DK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Deadline for handing-in the journal</a:t>
                      </a:r>
                      <a:r>
                        <a:rPr lang="en-GB" sz="1600" baseline="0"/>
                        <a:t> to the assignment on DTU Learn @13.00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283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994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Mininet-WiFi exercise (2)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Hand-in of reports</a:t>
            </a:r>
            <a:r>
              <a:rPr lang="da-DK"/>
              <a:t>: Individually or in groups of 2-3 students</a:t>
            </a:r>
          </a:p>
          <a:p>
            <a:endParaRPr lang="en-GB"/>
          </a:p>
          <a:p>
            <a:r>
              <a:rPr lang="en-GB"/>
              <a:t>Deadline: Wednesday, March 13 at 13:00</a:t>
            </a:r>
          </a:p>
          <a:p>
            <a:endParaRPr lang="en-GB"/>
          </a:p>
          <a:p>
            <a:r>
              <a:rPr lang="en-GB"/>
              <a:t>You have to join a group on Learn to be able to hand-in</a:t>
            </a:r>
          </a:p>
          <a:p>
            <a:pPr lvl="1"/>
            <a:r>
              <a:rPr lang="en-GB"/>
              <a:t>Even if you work individually (i.e., if you’re a one-person “group”)</a:t>
            </a:r>
          </a:p>
          <a:p>
            <a:pPr lvl="1"/>
            <a:r>
              <a:rPr lang="en-GB"/>
              <a:t>Go to My Course =&gt; Groups on Learn</a:t>
            </a:r>
          </a:p>
          <a:p>
            <a:pPr lvl="2"/>
            <a:r>
              <a:rPr lang="en-GB"/>
              <a:t>Find an empty group (“0/3 members”)</a:t>
            </a:r>
          </a:p>
          <a:p>
            <a:pPr lvl="2"/>
            <a:r>
              <a:rPr lang="en-GB"/>
              <a:t>Click on group to join (should be done by all group members)</a:t>
            </a:r>
          </a:p>
          <a:p>
            <a:pPr lvl="1"/>
            <a:r>
              <a:rPr lang="en-GB"/>
              <a:t>Contact me if you have trouble with groups</a:t>
            </a:r>
          </a:p>
          <a:p>
            <a:pPr lv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1854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General tips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Disable Linux’s built-in network-manager (</a:t>
            </a:r>
            <a:r>
              <a:rPr lang="da-DK" b="1" i="1"/>
              <a:t>must be done every time the VM is started</a:t>
            </a:r>
            <a:r>
              <a:rPr lang="da-DK"/>
              <a:t>):</a:t>
            </a:r>
          </a:p>
          <a:p>
            <a:pPr lvl="1"/>
            <a:r>
              <a:rPr lang="da-DK"/>
              <a:t>Linux CLI:</a:t>
            </a: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sudo systemctl stop NetworkManager.service</a:t>
            </a:r>
          </a:p>
          <a:p>
            <a:pPr lvl="0"/>
            <a:endParaRPr lang="da-DK"/>
          </a:p>
          <a:p>
            <a:pPr lvl="0"/>
            <a:r>
              <a:rPr lang="da-DK"/>
              <a:t>Saving Mininet-WiFi output (but unfortunately not your input):</a:t>
            </a:r>
          </a:p>
          <a:p>
            <a:pPr lvl="1"/>
            <a:r>
              <a:rPr lang="da-DK"/>
              <a:t>Linux CLI:</a:t>
            </a: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sudo python </a:t>
            </a:r>
            <a:r>
              <a:rPr lang="da-DK" b="1" i="1">
                <a:latin typeface="Courier New" panose="02070309020205020404" pitchFamily="49" charset="0"/>
                <a:cs typeface="Courier New" panose="02070309020205020404" pitchFamily="49" charset="0"/>
              </a:rPr>
              <a:t>myscript</a:t>
            </a: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.py 2&gt;&amp;1 | tee outputfile.txt</a:t>
            </a:r>
          </a:p>
          <a:p>
            <a:pPr lvl="0"/>
            <a:endParaRPr lang="da-DK"/>
          </a:p>
          <a:p>
            <a:pPr lvl="0"/>
            <a:r>
              <a:rPr lang="da-DK"/>
              <a:t>Resetting Mininet-WiFi (</a:t>
            </a:r>
            <a:r>
              <a:rPr lang="da-DK" i="1"/>
              <a:t>good practice if the emulator is not terminated correctly</a:t>
            </a:r>
            <a:r>
              <a:rPr lang="da-DK"/>
              <a:t>):</a:t>
            </a:r>
          </a:p>
          <a:p>
            <a:pPr lvl="1"/>
            <a:r>
              <a:rPr lang="da-DK"/>
              <a:t>Linux CLI:</a:t>
            </a: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sudo mn -c</a:t>
            </a:r>
          </a:p>
          <a:p>
            <a:pPr lvl="0"/>
            <a:endParaRPr lang="da-DK"/>
          </a:p>
          <a:p>
            <a:pPr lvl="0"/>
            <a:r>
              <a:rPr lang="da-DK"/>
              <a:t>Use the up and down arrow keys on your keyboard to</a:t>
            </a:r>
            <a:br>
              <a:rPr lang="da-DK"/>
            </a:br>
            <a:r>
              <a:rPr lang="da-DK"/>
              <a:t>quickly scroll up and down in your command history.</a:t>
            </a:r>
            <a:br>
              <a:rPr lang="da-DK"/>
            </a:br>
            <a:r>
              <a:rPr lang="da-DK"/>
              <a:t>(Works both in the Linux CLI and the Mininet-WiFi CLI)</a:t>
            </a:r>
          </a:p>
          <a:p>
            <a:endParaRPr lang="da-DK"/>
          </a:p>
        </p:txBody>
      </p:sp>
      <p:pic>
        <p:nvPicPr>
          <p:cNvPr id="1026" name="Picture 2" descr="Arrow Keys-up Down - Arrow Keys Cartoon PNG Image | Transparent PNG Free  Download on Seek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6415" y="4509120"/>
            <a:ext cx="2915295" cy="1685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729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General tips (2)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Click on the </a:t>
            </a:r>
            <a:r>
              <a:rPr lang="en-GB" b="1"/>
              <a:t>Home</a:t>
            </a:r>
            <a:r>
              <a:rPr lang="en-GB"/>
              <a:t> icon</a:t>
            </a:r>
            <a:br>
              <a:rPr lang="en-GB"/>
            </a:br>
            <a:r>
              <a:rPr lang="en-GB"/>
              <a:t>to open a file manager</a:t>
            </a:r>
          </a:p>
          <a:p>
            <a:endParaRPr lang="en-GB"/>
          </a:p>
          <a:p>
            <a:endParaRPr lang="en-GB"/>
          </a:p>
          <a:p>
            <a:r>
              <a:rPr lang="en-GB"/>
              <a:t>Right-click on a file and select</a:t>
            </a:r>
            <a:br>
              <a:rPr lang="en-GB"/>
            </a:br>
            <a:r>
              <a:rPr lang="en-GB" b="1"/>
              <a:t>Open With “Mousepad”</a:t>
            </a:r>
            <a:br>
              <a:rPr lang="en-GB"/>
            </a:br>
            <a:r>
              <a:rPr lang="en-GB"/>
              <a:t>to open it in a text editor</a:t>
            </a:r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</a:t>
            </a:fld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957" y="317097"/>
            <a:ext cx="1428750" cy="23622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 bwMode="auto">
          <a:xfrm>
            <a:off x="5408121" y="1212576"/>
            <a:ext cx="504056" cy="571242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102" y="2996952"/>
            <a:ext cx="243840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22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0076-18E8-B4EB-ADE9-28436F893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Testing throughput with iperf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E8903-7B69-7080-787C-6E0235C8A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Start the iperf server in an xterm window, e.g.,</a:t>
            </a:r>
          </a:p>
          <a:p>
            <a:pPr lvl="1"/>
            <a:r>
              <a:rPr lang="en-GB"/>
              <a:t>In the Mininet-CLI: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xterm &lt;serverdevice&gt;</a:t>
            </a:r>
          </a:p>
          <a:p>
            <a:pPr lvl="2"/>
            <a:r>
              <a:rPr lang="en-GB"/>
              <a:t>Change the font size by Ctrl + Rightclick in the xterm window</a:t>
            </a:r>
          </a:p>
          <a:p>
            <a:pPr lvl="1"/>
            <a:r>
              <a:rPr lang="en-GB"/>
              <a:t>In the xterm window that opens: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iperf -s</a:t>
            </a:r>
          </a:p>
          <a:p>
            <a:endParaRPr lang="en-GB"/>
          </a:p>
          <a:p>
            <a:r>
              <a:rPr lang="en-GB"/>
              <a:t>Start the iperf client in the Mininet-CLI:</a:t>
            </a:r>
          </a:p>
          <a:p>
            <a:pPr lvl="1"/>
            <a:r>
              <a:rPr lang="en-GB"/>
              <a:t>At the Mininet-CLI: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&lt;clientdevice&gt; iperf -c &lt;serverdevice&gt;</a:t>
            </a:r>
            <a:endParaRPr lang="en-GB">
              <a:cs typeface="Courier New" panose="02070309020205020404" pitchFamily="49" charset="0"/>
            </a:endParaRPr>
          </a:p>
          <a:p>
            <a:endParaRPr lang="en-GB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>
                <a:cs typeface="Courier New" panose="02070309020205020404" pitchFamily="49" charset="0"/>
              </a:rPr>
              <a:t>Start the iperf client in an xterm window:</a:t>
            </a:r>
          </a:p>
          <a:p>
            <a:pPr lvl="1"/>
            <a:r>
              <a:rPr lang="en-GB">
                <a:cs typeface="Courier New" panose="02070309020205020404" pitchFamily="49" charset="0"/>
              </a:rPr>
              <a:t>In the xterm window: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iperf -c &lt;IP-address of serverdevice&gt;</a:t>
            </a:r>
          </a:p>
          <a:p>
            <a:endParaRPr lang="en-GB">
              <a:cs typeface="Courier New" panose="02070309020205020404" pitchFamily="49" charset="0"/>
            </a:endParaRPr>
          </a:p>
          <a:p>
            <a:endParaRPr lang="en-GB">
              <a:cs typeface="Courier New" panose="02070309020205020404" pitchFamily="49" charset="0"/>
            </a:endParaRP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346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B9D89-4678-4B3C-8679-3E429EFBB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Custom network topologies in Mininet-WiFi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5890CD-8F90-4FE7-841F-F7B0C2865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Mininet-WiFi has a few built-in topologies</a:t>
            </a:r>
          </a:p>
          <a:p>
            <a:pPr lvl="1"/>
            <a:r>
              <a:rPr lang="en-GB"/>
              <a:t>You experimented with a simple topology (one access point and two stations) last week</a:t>
            </a:r>
          </a:p>
          <a:p>
            <a:endParaRPr lang="en-GB"/>
          </a:p>
          <a:p>
            <a:r>
              <a:rPr lang="en-GB"/>
              <a:t>But what if I want to emulate a WiFi network with another topology?</a:t>
            </a:r>
          </a:p>
          <a:p>
            <a:pPr lvl="1"/>
            <a:r>
              <a:rPr lang="en-GB"/>
              <a:t>Possible to define a custom topology using Python programs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7</a:t>
            </a:fld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96381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58771-07C9-A43E-ED19-C9FF96D84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410585"/>
          </a:xfrm>
        </p:spPr>
        <p:txBody>
          <a:bodyPr/>
          <a:lstStyle/>
          <a:p>
            <a:r>
              <a:rPr lang="en-GB"/>
              <a:t>General structure</a:t>
            </a:r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D5CC3-5901-6673-85AD-B58E991AA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1060B-BB15-3D3E-E6E9-DE8A3AD19D77}"/>
              </a:ext>
            </a:extLst>
          </p:cNvPr>
          <p:cNvSpPr txBox="1"/>
          <p:nvPr/>
        </p:nvSpPr>
        <p:spPr>
          <a:xfrm>
            <a:off x="251363" y="1254761"/>
            <a:ext cx="11849398" cy="517064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#!/usr/bin/env python</a:t>
            </a:r>
          </a:p>
          <a:p>
            <a:pPr algn="l">
              <a:spcBef>
                <a:spcPts val="0"/>
              </a:spcBef>
            </a:pPr>
            <a:endParaRPr lang="da-DK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# Relevant Python imports ...</a:t>
            </a:r>
          </a:p>
          <a:p>
            <a:pPr algn="l">
              <a:spcBef>
                <a:spcPts val="0"/>
              </a:spcBef>
            </a:pPr>
            <a:endParaRPr lang="da-DK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# Function that defines the network topology</a:t>
            </a: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def topology(args):</a:t>
            </a: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   # Statements that create an empty network and add a controller</a:t>
            </a: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   net = Mininet_wifi(controller=Controller, link=wmediumd, wmediumd_mode=interference)</a:t>
            </a: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   c1 = net.addController('c1’)</a:t>
            </a:r>
          </a:p>
          <a:p>
            <a:pPr algn="l">
              <a:spcBef>
                <a:spcPts val="0"/>
              </a:spcBef>
            </a:pPr>
            <a:endParaRPr lang="da-DK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   # Statements to add wireless devices, e.g., access points and wifi-stations</a:t>
            </a:r>
          </a:p>
          <a:p>
            <a:pPr algn="l">
              <a:spcBef>
                <a:spcPts val="0"/>
              </a:spcBef>
            </a:pPr>
            <a:endParaRPr lang="da-DK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   # Statements to add wired devices, e.g., wired-stations, switches, and wired links</a:t>
            </a:r>
          </a:p>
          <a:p>
            <a:pPr algn="l">
              <a:spcBef>
                <a:spcPts val="0"/>
              </a:spcBef>
            </a:pPr>
            <a:endParaRPr lang="da-DK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   # Statements to ”start” network, access points and switches are controlled by the controller</a:t>
            </a:r>
          </a:p>
          <a:p>
            <a:pPr algn="l">
              <a:spcBef>
                <a:spcPts val="0"/>
              </a:spcBef>
            </a:pPr>
            <a:endParaRPr lang="da-DK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   # Start the CLI</a:t>
            </a:r>
          </a:p>
          <a:p>
            <a:pPr algn="l">
              <a:spcBef>
                <a:spcPts val="0"/>
              </a:spcBef>
            </a:pPr>
            <a:endParaRPr lang="da-DK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spcBef>
                <a:spcPts val="0"/>
              </a:spcBef>
            </a:pP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if __name__ == '__main__':</a:t>
            </a:r>
          </a:p>
          <a:p>
            <a:pPr algn="l">
              <a:spcBef>
                <a:spcPts val="0"/>
              </a:spcBef>
            </a:pP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   setLogLevel('info')</a:t>
            </a:r>
          </a:p>
          <a:p>
            <a:pPr algn="l">
              <a:spcBef>
                <a:spcPts val="0"/>
              </a:spcBef>
            </a:pP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   topology(sys.argv)</a:t>
            </a: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3856767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Adding nodes – WiFi devices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10297144" cy="4545578"/>
          </a:xfrm>
        </p:spPr>
        <p:txBody>
          <a:bodyPr/>
          <a:lstStyle/>
          <a:p>
            <a:r>
              <a:rPr lang="en-GB"/>
              <a:t>Note: Variable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net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/>
              <a:t>is the instance of the Mininet-WiFi class from the previous slide</a:t>
            </a:r>
          </a:p>
          <a:p>
            <a:pPr lvl="1"/>
            <a:r>
              <a:rPr lang="en-GB" b="1" i="1"/>
              <a:t>The examples below should be on one line in your source code</a:t>
            </a:r>
          </a:p>
          <a:p>
            <a:endParaRPr lang="en-GB"/>
          </a:p>
          <a:p>
            <a:r>
              <a:rPr lang="en-GB"/>
              <a:t>Access points: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ap1 = net.addAccessPoint('ap1', </a:t>
            </a:r>
            <a:r>
              <a:rPr lang="en-GB" b="1" i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other named arguments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GB"/>
              <a:t>Example: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ap1 = net.addAccessPoint(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ap1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, ssid = 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mywifi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, mode = 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channel = 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, position = 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100,100,0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GB"/>
          </a:p>
          <a:p>
            <a:r>
              <a:rPr lang="en-GB"/>
              <a:t>Wireless stations: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sta1 = net.addStation('sta1', </a:t>
            </a:r>
            <a:r>
              <a:rPr lang="en-GB" b="1" i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other named arguments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GB"/>
              <a:t>Example: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sta1 = net.addStation(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sta1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, ip = 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192.168.0.1/24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position = 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50,50,0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GB"/>
          </a:p>
          <a:p>
            <a:r>
              <a:rPr lang="en-GB"/>
              <a:t>Note: After adding APs and STAs (should already be in the provided script):</a:t>
            </a:r>
            <a:br>
              <a:rPr lang="en-GB"/>
            </a:b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da-DK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net.setPropagationModel(model="logDistance", exp=4.5)</a:t>
            </a:r>
            <a:b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da-DK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net.configureWifiNodes()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3918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Adding nodes – Wired devices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10225136" cy="4545578"/>
          </a:xfrm>
        </p:spPr>
        <p:txBody>
          <a:bodyPr/>
          <a:lstStyle/>
          <a:p>
            <a:r>
              <a:rPr lang="en-GB"/>
              <a:t>Note: The variable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net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/>
              <a:t>is an instance of the Mininet-WiFi class</a:t>
            </a:r>
          </a:p>
          <a:p>
            <a:endParaRPr lang="en-GB"/>
          </a:p>
          <a:p>
            <a:r>
              <a:rPr lang="en-GB"/>
              <a:t>Wired hosts: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h1 = net.addHost('h1', </a:t>
            </a:r>
            <a:r>
              <a:rPr lang="en-GB" b="1" i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other named arguments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GB"/>
              <a:t>Example: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h1 = net.addHost(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h1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, ip = 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192.168.0.2/24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GB"/>
          </a:p>
          <a:p>
            <a:r>
              <a:rPr lang="en-GB"/>
              <a:t>Switches: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sw1 = net.addSwitch('sw1', </a:t>
            </a:r>
            <a:r>
              <a:rPr lang="en-GB" b="1" i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other named arguments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GB"/>
              <a:t>Example: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sw1 = net.addSwitch(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sw1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endParaRPr lang="en-GB"/>
          </a:p>
          <a:p>
            <a:r>
              <a:rPr lang="en-GB"/>
              <a:t>Adding a wired link: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 net.addLink(</a:t>
            </a:r>
            <a:r>
              <a:rPr lang="en-GB" b="1" i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device1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, </a:t>
            </a:r>
            <a:r>
              <a:rPr lang="en-GB" b="1" i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device2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)</a:t>
            </a:r>
            <a:endParaRPr lang="en-GB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GB"/>
              <a:t>Example: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net.addLink(h1, sw1)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/>
              <a:t>connects h1 and sw1 with a wired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5328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84B96-9A1E-D18C-6553-FC2C17BB1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F992-9052-8B0B-F49B-8B2280B0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Adding nodes - example</a:t>
            </a:r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A4CDF-631A-83EA-9DBC-839109B8F2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680CB-4397-4857-3E58-4C99277FB713}"/>
              </a:ext>
            </a:extLst>
          </p:cNvPr>
          <p:cNvSpPr txBox="1"/>
          <p:nvPr/>
        </p:nvSpPr>
        <p:spPr>
          <a:xfrm>
            <a:off x="242592" y="1698697"/>
            <a:ext cx="10861948" cy="418576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# Function that defines the network topology</a:t>
            </a: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def topology(args):</a:t>
            </a: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   # Statements that create an empty network and add a controller</a:t>
            </a: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   net = Mininet_wifi(controller=Controller, link=wmediumd, wmediumd_mode=interference)</a:t>
            </a: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   c1 = net.addController('c1')</a:t>
            </a:r>
          </a:p>
          <a:p>
            <a:pPr algn="l">
              <a:spcBef>
                <a:spcPts val="0"/>
              </a:spcBef>
            </a:pPr>
            <a:endParaRPr lang="da-DK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   # Statements to add wireless devices, e.g., access points and wifi-stations</a:t>
            </a: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   ap1 = net.addAccessPoint('ap1', &lt;other relevant arguments&gt; )</a:t>
            </a: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   sta1 = net.addStation('sta1', &lt;other relevant arguments&gt; )</a:t>
            </a: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pPr algn="l">
              <a:spcBef>
                <a:spcPts val="0"/>
              </a:spcBef>
            </a:pPr>
            <a:endParaRPr lang="da-DK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   # Statements to add wired devices, e.g., wired-stations, switches, and wired links</a:t>
            </a: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   h1 = net.addHost('h1', &lt;other relevant arguments&gt; )</a:t>
            </a: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pPr algn="l">
              <a:spcBef>
                <a:spcPts val="0"/>
              </a:spcBef>
            </a:pPr>
            <a:endParaRPr lang="da-DK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spcBef>
                <a:spcPts val="0"/>
              </a:spcBef>
            </a:pP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11989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Starting the network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694295"/>
            <a:ext cx="9937104" cy="4545578"/>
          </a:xfrm>
        </p:spPr>
        <p:txBody>
          <a:bodyPr/>
          <a:lstStyle/>
          <a:p>
            <a:pPr marL="0" indent="0">
              <a:buNone/>
            </a:pP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net.build()</a:t>
            </a:r>
          </a:p>
          <a:p>
            <a:pPr marL="0" indent="0">
              <a:buNone/>
            </a:pP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c1.start()         # Start the controller</a:t>
            </a:r>
          </a:p>
          <a:p>
            <a:pPr marL="0" indent="0">
              <a:buNone/>
            </a:pP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ap1.start([c1])    # For access points</a:t>
            </a:r>
          </a:p>
          <a:p>
            <a:pPr marL="0" indent="0">
              <a:buNone/>
            </a:pP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sw1.start([c1])    # For switches – leave out if there are no switches</a:t>
            </a:r>
            <a:endParaRPr lang="da-DK" b="1">
              <a:latin typeface="Courier New" panose="02070309020205020404" pitchFamily="49" charset="0"/>
              <a:ea typeface="Cascadia Mono" panose="020B06090200000200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17085" y="5949280"/>
            <a:ext cx="5002039" cy="391628"/>
          </a:xfrm>
          <a:prstGeom prst="rect">
            <a:avLst/>
          </a:prstGeom>
          <a:solidFill>
            <a:schemeClr val="bg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44000" tIns="72000" rIns="144000" bIns="72000" rtlCol="0" anchor="ctr" anchorCtr="1">
            <a:spAutoFit/>
          </a:bodyPr>
          <a:lstStyle/>
          <a:p>
            <a:pPr>
              <a:spcBef>
                <a:spcPts val="432"/>
              </a:spcBef>
            </a:pPr>
            <a:r>
              <a:rPr lang="en-GB">
                <a:solidFill>
                  <a:schemeClr val="bg1"/>
                </a:solidFill>
                <a:latin typeface="+mn-lt"/>
              </a:rPr>
              <a:t>See </a:t>
            </a:r>
            <a:r>
              <a:rPr lang="en-GB">
                <a:solidFill>
                  <a:schemeClr val="bg1"/>
                </a:solidFill>
                <a:latin typeface="+mn-lt"/>
                <a:hlinkClick r:id="rId3"/>
              </a:rPr>
              <a:t>https://mininet-wifi.github.io</a:t>
            </a:r>
            <a:r>
              <a:rPr lang="en-GB">
                <a:solidFill>
                  <a:schemeClr val="bg1"/>
                </a:solidFill>
                <a:latin typeface="+mn-lt"/>
              </a:rPr>
              <a:t> for more inspiration</a:t>
            </a:r>
            <a:endParaRPr lang="da-DK" dirty="0" err="1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4451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Python notes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Python uses </a:t>
            </a:r>
            <a:r>
              <a:rPr lang="en-GB" i="1"/>
              <a:t>indentation</a:t>
            </a:r>
            <a:r>
              <a:rPr lang="en-GB"/>
              <a:t> for scoping</a:t>
            </a:r>
          </a:p>
          <a:p>
            <a:endParaRPr lang="en-GB"/>
          </a:p>
          <a:p>
            <a:r>
              <a:rPr lang="en-GB"/>
              <a:t>Lines are </a:t>
            </a:r>
            <a:r>
              <a:rPr lang="en-GB" i="1"/>
              <a:t>not</a:t>
            </a:r>
            <a:r>
              <a:rPr lang="en-GB"/>
              <a:t> terminated with semicolons</a:t>
            </a:r>
          </a:p>
          <a:p>
            <a:endParaRPr lang="en-GB"/>
          </a:p>
          <a:p>
            <a:r>
              <a:rPr lang="en-GB"/>
              <a:t>For simple comments, use pound-sign (#), e.g.,</a:t>
            </a:r>
            <a:br>
              <a:rPr lang="en-GB"/>
            </a:br>
            <a:r>
              <a:rPr lang="en-GB">
                <a:latin typeface="Consolas" panose="020B0609020204030204" pitchFamily="49" charset="0"/>
              </a:rPr>
              <a:t>    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# THIS IS A COMMENT</a:t>
            </a:r>
          </a:p>
          <a:p>
            <a:endParaRPr lang="en-GB"/>
          </a:p>
          <a:p>
            <a:r>
              <a:rPr lang="en-GB"/>
              <a:t>Named arguments are in the form </a:t>
            </a:r>
            <a:r>
              <a:rPr lang="en-GB" i="1"/>
              <a:t>name = value</a:t>
            </a:r>
            <a:r>
              <a:rPr lang="en-GB"/>
              <a:t>, e.g.,</a:t>
            </a:r>
            <a:br>
              <a:rPr lang="en-GB"/>
            </a:br>
            <a:r>
              <a:rPr lang="en-GB">
                <a:latin typeface="Consolas" panose="020B0609020204030204" pitchFamily="49" charset="0"/>
              </a:rPr>
              <a:t>   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net.addAccessPoint(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ap1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, ..., mac = 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00:01:02:03:04:05</a:t>
            </a:r>
            <a:r>
              <a:rPr lang="en-GB" b="1">
                <a:latin typeface="Courier New" panose="02070309020205020404" pitchFamily="49" charset="0"/>
                <a:ea typeface="Cascadia Mono" panose="020B0609020000020004" pitchFamily="49" charset="0"/>
                <a:cs typeface="Courier New" panose="02070309020205020404" pitchFamily="49" charset="0"/>
              </a:rPr>
              <a:t>'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, ...)</a:t>
            </a:r>
          </a:p>
          <a:p>
            <a:endParaRPr lang="en-GB"/>
          </a:p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7895406" y="425450"/>
            <a:ext cx="3949244" cy="2554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GB">
                <a:latin typeface="+mn-lt"/>
              </a:rPr>
              <a:t>Python issues an error message if you use</a:t>
            </a:r>
            <a:br>
              <a:rPr lang="en-GB">
                <a:latin typeface="+mn-lt"/>
              </a:rPr>
            </a:br>
            <a:r>
              <a:rPr lang="en-GB">
                <a:latin typeface="+mn-lt"/>
              </a:rPr>
              <a:t>different forms of indentation in your code,</a:t>
            </a:r>
            <a:br>
              <a:rPr lang="en-GB">
                <a:latin typeface="+mn-lt"/>
              </a:rPr>
            </a:br>
            <a:r>
              <a:rPr lang="en-GB">
                <a:latin typeface="+mn-lt"/>
              </a:rPr>
              <a:t>e.g., both spaces and tab. To be consistent</a:t>
            </a:r>
            <a:br>
              <a:rPr lang="en-GB">
                <a:latin typeface="+mn-lt"/>
              </a:rPr>
            </a:br>
            <a:r>
              <a:rPr lang="en-GB">
                <a:latin typeface="+mn-lt"/>
              </a:rPr>
              <a:t>you </a:t>
            </a:r>
            <a:r>
              <a:rPr lang="en-GB" b="1">
                <a:latin typeface="+mn-lt"/>
              </a:rPr>
              <a:t>must</a:t>
            </a:r>
            <a:r>
              <a:rPr lang="en-GB">
                <a:latin typeface="+mn-lt"/>
              </a:rPr>
              <a:t> use four space for every level of</a:t>
            </a:r>
            <a:br>
              <a:rPr lang="en-GB">
                <a:latin typeface="+mn-lt"/>
              </a:rPr>
            </a:br>
            <a:r>
              <a:rPr lang="en-GB">
                <a:latin typeface="+mn-lt"/>
              </a:rPr>
              <a:t>indentation, e.g., (</a:t>
            </a:r>
            <a:r>
              <a:rPr lang="en-GB" sz="1400">
                <a:latin typeface="Cascadia Code" panose="020B0509020204030204" pitchFamily="49" charset="0"/>
              </a:rPr>
              <a:t> </a:t>
            </a:r>
            <a:r>
              <a:rPr lang="da-DK" sz="1400">
                <a:latin typeface="Cascadia Code" panose="020B0509020204030204" pitchFamily="49" charset="0"/>
                <a:cs typeface="Arial" panose="020B0604020202020204" pitchFamily="34" charset="0"/>
              </a:rPr>
              <a:t>∙ </a:t>
            </a:r>
            <a:r>
              <a:rPr lang="da-DK">
                <a:latin typeface="Arial" panose="020B0604020202020204" pitchFamily="34" charset="0"/>
                <a:cs typeface="Arial" panose="020B0604020202020204" pitchFamily="34" charset="0"/>
              </a:rPr>
              <a:t>≈ space)</a:t>
            </a:r>
            <a:br>
              <a:rPr lang="en-GB">
                <a:latin typeface="+mn-lt"/>
              </a:rPr>
            </a:br>
            <a:br>
              <a:rPr lang="en-GB">
                <a:latin typeface="+mn-lt"/>
              </a:rPr>
            </a:br>
            <a:r>
              <a:rPr lang="en-GB" sz="1400" b="1">
                <a:latin typeface="Courier New" panose="02070309020205020404" pitchFamily="49" charset="0"/>
                <a:cs typeface="Courier New" panose="02070309020205020404" pitchFamily="49" charset="0"/>
              </a:rPr>
              <a:t>def myfunc(x):</a:t>
            </a:r>
            <a:br>
              <a:rPr lang="da-DK" sz="1400" b="1" err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a-DK" sz="1400" b="1">
                <a:latin typeface="Courier New" panose="02070309020205020404" pitchFamily="49" charset="0"/>
                <a:cs typeface="Courier New" panose="02070309020205020404" pitchFamily="49" charset="0"/>
              </a:rPr>
              <a:t>∙∙∙∙if x&gt;=0:</a:t>
            </a:r>
            <a:br>
              <a:rPr lang="da-DK" sz="14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a-DK" sz="1400" b="1">
                <a:latin typeface="Courier New" panose="02070309020205020404" pitchFamily="49" charset="0"/>
                <a:cs typeface="Courier New" panose="02070309020205020404" pitchFamily="49" charset="0"/>
              </a:rPr>
              <a:t>∙∙∙∙∙∙∙∙return x</a:t>
            </a:r>
            <a:br>
              <a:rPr lang="da-DK" sz="14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a-DK" sz="1400" b="1">
                <a:latin typeface="Courier New" panose="02070309020205020404" pitchFamily="49" charset="0"/>
                <a:cs typeface="Courier New" panose="02070309020205020404" pitchFamily="49" charset="0"/>
              </a:rPr>
              <a:t>∙∙∙∙else:</a:t>
            </a:r>
            <a:br>
              <a:rPr lang="da-DK" sz="14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a-DK" sz="1400" b="1">
                <a:latin typeface="Courier New" panose="02070309020205020404" pitchFamily="49" charset="0"/>
                <a:cs typeface="Courier New" panose="02070309020205020404" pitchFamily="49" charset="0"/>
              </a:rPr>
              <a:t>∙∙∙∙∙∙∙∙return -x</a:t>
            </a:r>
            <a:endParaRPr lang="en-GB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701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Access to class methods and fields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Devices (AP, stations, hosts, ...) are represented by Python classes in Mininet-WiFi</a:t>
            </a:r>
          </a:p>
          <a:p>
            <a:pPr lvl="1"/>
            <a:r>
              <a:rPr lang="en-GB"/>
              <a:t> =&gt; Possible to manipulate directly using: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py </a:t>
            </a:r>
            <a:r>
              <a:rPr lang="en-GB" b="1" i="1">
                <a:latin typeface="Courier New" panose="02070309020205020404" pitchFamily="49" charset="0"/>
                <a:cs typeface="Courier New" panose="02070309020205020404" pitchFamily="49" charset="0"/>
              </a:rPr>
              <a:t>PythonStatement</a:t>
            </a:r>
          </a:p>
          <a:p>
            <a:endParaRPr lang="en-GB"/>
          </a:p>
          <a:p>
            <a:r>
              <a:rPr lang="en-GB"/>
              <a:t>Example: (Station and Access Point classes have a SetPosition() method)</a:t>
            </a:r>
            <a:br>
              <a:rPr lang="en-GB"/>
            </a:br>
            <a:endParaRPr lang="en-GB"/>
          </a:p>
          <a:p>
            <a:pPr marL="0" indent="0">
              <a:buNone/>
            </a:pP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mininet-wifi&gt; py sta1.setPosition('10,20,0')</a:t>
            </a:r>
          </a:p>
          <a:p>
            <a:pPr marL="0" indent="0">
              <a:buNone/>
            </a:pPr>
            <a:br>
              <a:rPr lang="en-GB">
                <a:latin typeface="Cascadia Code" panose="020B0509020204030204" pitchFamily="49" charset="0"/>
              </a:rPr>
            </a:b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mininet-wifi&gt; py sta1.params</a:t>
            </a:r>
          </a:p>
          <a:p>
            <a:pPr marL="0" indent="0">
              <a:buNone/>
            </a:pP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{'ip': '10.0.0.1/8', 'ip6': '2001:0:0:0:0:0:0:1/64', 'channel': 1, 'band': 20, 'freq': 2.4, 'mode': 'g', 'mac': '00:00:00:00:00:02', 'wlan': ['sta1-wlan0']}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91550" y="3055971"/>
            <a:ext cx="2586313" cy="69940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44000" tIns="72000" rIns="144000" bIns="7200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GB" sz="1800">
                <a:latin typeface="+mn-lt"/>
              </a:rPr>
              <a:t>Moves sta1 to position</a:t>
            </a:r>
            <a:br>
              <a:rPr lang="en-GB" sz="1800">
                <a:latin typeface="+mn-lt"/>
              </a:rPr>
            </a:br>
            <a:r>
              <a:rPr lang="en-GB" sz="1800">
                <a:latin typeface="+mn-lt"/>
              </a:rPr>
              <a:t>x=10, y=20 and z=0</a:t>
            </a:r>
            <a:endParaRPr lang="da-DK" sz="1800" dirty="0" err="1">
              <a:latin typeface="+mn-lt"/>
            </a:endParaRPr>
          </a:p>
        </p:txBody>
      </p:sp>
      <p:cxnSp>
        <p:nvCxnSpPr>
          <p:cNvPr id="7" name="Straight Arrow Connector 6"/>
          <p:cNvCxnSpPr/>
          <p:nvPr/>
        </p:nvCxnSpPr>
        <p:spPr bwMode="auto">
          <a:xfrm flipH="1">
            <a:off x="7895406" y="3405673"/>
            <a:ext cx="1224136" cy="233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167722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Assignment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Go through the steps of the exercise manual (part 1) on Learn</a:t>
            </a:r>
          </a:p>
          <a:p>
            <a:endParaRPr lang="en-GB"/>
          </a:p>
          <a:p>
            <a:r>
              <a:rPr lang="en-GB"/>
              <a:t>Write an lab journal where you answer the questions in the manual</a:t>
            </a:r>
          </a:p>
          <a:p>
            <a:pPr lvl="1"/>
            <a:r>
              <a:rPr lang="en-GB"/>
              <a:t>You don’t need to write a loooooong epich novel for each part</a:t>
            </a:r>
          </a:p>
          <a:p>
            <a:pPr lvl="1"/>
            <a:r>
              <a:rPr lang="en-GB"/>
              <a:t>But your answers must be documented!</a:t>
            </a:r>
          </a:p>
          <a:p>
            <a:endParaRPr lang="en-GB"/>
          </a:p>
          <a:p>
            <a:r>
              <a:rPr lang="en-GB"/>
              <a:t>Continue with the exercise (part 2) next week, adding to your lab journal</a:t>
            </a:r>
          </a:p>
          <a:p>
            <a:endParaRPr lang="en-GB"/>
          </a:p>
          <a:p>
            <a:r>
              <a:rPr lang="en-GB"/>
              <a:t>Hand-in the complete lab journal on Learn no later than March 13 @ 13:00.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774726" y="5295133"/>
            <a:ext cx="9312374" cy="956773"/>
          </a:xfrm>
          <a:prstGeom prst="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108000" rIns="108000" bIns="108000" rtlCol="0">
            <a:sp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REMEMBER TO STOP THE NETWORK MANAGER EVERY TIME YOU BOOT THE VM:</a:t>
            </a:r>
            <a:br>
              <a:rPr lang="en-GB">
                <a:solidFill>
                  <a:schemeClr val="bg1"/>
                </a:solidFill>
              </a:rPr>
            </a:br>
            <a:br>
              <a:rPr lang="en-GB">
                <a:solidFill>
                  <a:schemeClr val="bg1"/>
                </a:solidFill>
              </a:rPr>
            </a:br>
            <a:r>
              <a:rPr lang="en-GB">
                <a:solidFill>
                  <a:schemeClr val="bg1"/>
                </a:solidFill>
              </a:rPr>
              <a:t>In a terminal:</a:t>
            </a:r>
            <a:r>
              <a:rPr lang="en-GB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sudo systemctl stop NetworkManager.service</a:t>
            </a:r>
            <a:endParaRPr lang="da-DK" b="1" dirty="0" err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1192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3B38FA3B-2246-40E5-A61A-EA1559A3CD76}" vid="{D5F764FD-A73C-4B6C-BF48-3536DEB79AD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{"name":"Date","value":"4Xm7d242HGo446IH5nRjQA=="},{"name":"PresentationTitle","value":"ZR/I84ubq+6CkRKNk7nn9w=="}]}]]></TemplafyFormConfiguration>
</file>

<file path=customXml/item3.xml><?xml version="1.0" encoding="utf-8"?>
<TemplafyTemplateConfiguration><![CDATA[{"elementsMetadata":[{"type":"shape","id":"2fce62a0-f28a-44e1-a519-0cbe37b25f7a","elementConfiguration":{"binding":"UserProfile.Offices.Workarea_{{DocumentLanguage}}","disableUpdates":false,"type":"text"}},{"type":"shape","id":"58465eeb-cfe0-4970-97ec-88179dc0a9c2","elementConfiguration":{"binding":"Form.Date","format":"{{DateFormats.GeneralDate}}","disableUpdates":false,"type":"date"}},{"type":"shape","id":"5020bdfb-1912-4d6d-a5c3-71b7da283692","elementConfiguration":{"binding":"Form.PresentationTitle","disableUpdates":false,"type":"text"}},{"type":"shape","id":"8d5b95d1-8a23-4044-9620-bf5e7305a170","elementConfiguration":{"binding":"UserProfile.Offices.Workarea_{{DocumentLanguage}}","disableUpdates":false,"type":"text"}},{"type":"shape","id":"79fbb3c3-dd89-47ef-91e9-e0bd2bb0942f","elementConfiguration":{"binding":"Form.Date","format":"{{DateFormats.GeneralDate}}","disableUpdates":false,"type":"date"}},{"type":"shape","id":"5e9447ba-0dff-46ec-ac33-540c046ca40a","elementConfiguration":{"binding":"Form.PresentationTitle","disableUpdates":false,"type":"text"}}],"transformationConfigurations":[{"language":"{{DocumentLanguage}}","disableUpdates":false,"type":"proofingLanguage"}],"enableDocumentContentUpdater":true,"templateName":"DTU Template 16_9 - Corporate red","templateDescription":"","version":"1.2"}]]></TemplafyTemplateConfiguration>
</file>

<file path=customXml/item4.xml><?xml version="1.0" encoding="utf-8"?>
<TemplafySlideTemplateConfiguration><![CDATA[{"elementsMetadata":[],"enableDocumentContentUpdater":true,"documentContentValidatorConfiguration":{"enableDocumentContentValidator":false,"documentContentValidatorVersion":0},"slideId":"636837486369753289","version":"1.2"}]]></TemplafySlideTemplateConfiguration>
</file>

<file path=customXml/item5.xml><?xml version="1.0" encoding="utf-8"?>
<TemplafySlideTemplateConfiguration><![CDATA[{"elementsMetadata":[],"enableDocumentContentUpdater":true,"documentContentValidatorConfiguration":{"enableDocumentContentValidator":false,"documentContentValidatorVersion":0},"slideId":"636837486369128185","version":"1.2"}]]></TemplafySlideTemplateConfiguration>
</file>

<file path=customXml/item6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56C8BFB2-A911-4310-9D4A-421D773FAFA6}">
  <ds:schemaRefs/>
</ds:datastoreItem>
</file>

<file path=customXml/itemProps2.xml><?xml version="1.0" encoding="utf-8"?>
<ds:datastoreItem xmlns:ds="http://schemas.openxmlformats.org/officeDocument/2006/customXml" ds:itemID="{05DC2B94-7C1B-4C14-83B0-9CD2A82C27E0}">
  <ds:schemaRefs/>
</ds:datastoreItem>
</file>

<file path=customXml/itemProps3.xml><?xml version="1.0" encoding="utf-8"?>
<ds:datastoreItem xmlns:ds="http://schemas.openxmlformats.org/officeDocument/2006/customXml" ds:itemID="{1334258C-C3E7-4029-A615-C886A240FB15}">
  <ds:schemaRefs/>
</ds:datastoreItem>
</file>

<file path=customXml/itemProps4.xml><?xml version="1.0" encoding="utf-8"?>
<ds:datastoreItem xmlns:ds="http://schemas.openxmlformats.org/officeDocument/2006/customXml" ds:itemID="{02E7CCCE-613B-4CED-B813-E473EA1E01B2}">
  <ds:schemaRefs/>
</ds:datastoreItem>
</file>

<file path=customXml/itemProps5.xml><?xml version="1.0" encoding="utf-8"?>
<ds:datastoreItem xmlns:ds="http://schemas.openxmlformats.org/officeDocument/2006/customXml" ds:itemID="{11FAAC39-0A3A-4CC2-A9C1-60940B78AE17}">
  <ds:schemaRefs/>
</ds:datastoreItem>
</file>

<file path=customXml/itemProps6.xml><?xml version="1.0" encoding="utf-8"?>
<ds:datastoreItem xmlns:ds="http://schemas.openxmlformats.org/officeDocument/2006/customXml" ds:itemID="{F4C08C7F-F953-44DE-ACDE-930692BDDB0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820</TotalTime>
  <Words>1421</Words>
  <Application>Microsoft Office PowerPoint</Application>
  <PresentationFormat>Custom</PresentationFormat>
  <Paragraphs>197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Cascadia Code</vt:lpstr>
      <vt:lpstr>Consolas</vt:lpstr>
      <vt:lpstr>Courier New</vt:lpstr>
      <vt:lpstr>Verdana</vt:lpstr>
      <vt:lpstr>Wingdings</vt:lpstr>
      <vt:lpstr>Blank</vt:lpstr>
      <vt:lpstr>Mininet-WiFi exercise (Part 1)</vt:lpstr>
      <vt:lpstr>Mininet-WiFi exercise</vt:lpstr>
      <vt:lpstr>Mininet-WiFi exercise (2)</vt:lpstr>
      <vt:lpstr>General tips</vt:lpstr>
      <vt:lpstr>General tips (2)</vt:lpstr>
      <vt:lpstr>Testing throughput with iperf</vt:lpstr>
      <vt:lpstr>Custom network topologies in Mininet-WiFi</vt:lpstr>
      <vt:lpstr>General structure</vt:lpstr>
      <vt:lpstr>Adding nodes – WiFi devices</vt:lpstr>
      <vt:lpstr>Adding nodes – Wired devices</vt:lpstr>
      <vt:lpstr>Adding nodes - example</vt:lpstr>
      <vt:lpstr>Starting the network</vt:lpstr>
      <vt:lpstr>Python notes</vt:lpstr>
      <vt:lpstr>Access to class methods and fields</vt:lpstr>
      <vt:lpstr>Assignment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Lars Staalhagen</dc:creator>
  <cp:lastModifiedBy>Lars Staalhagen</cp:lastModifiedBy>
  <cp:revision>43</cp:revision>
  <cp:lastPrinted>2025-02-19T13:44:11Z</cp:lastPrinted>
  <dcterms:created xsi:type="dcterms:W3CDTF">2021-09-16T10:59:16Z</dcterms:created>
  <dcterms:modified xsi:type="dcterms:W3CDTF">2025-02-19T15:00:37Z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enantId">
    <vt:lpwstr>dtu</vt:lpwstr>
  </property>
  <property fmtid="{D5CDD505-2E9C-101B-9397-08002B2CF9AE}" pid="4" name="TemplafyTemplateId">
    <vt:lpwstr>636784030496976655</vt:lpwstr>
  </property>
  <property fmtid="{D5CDD505-2E9C-101B-9397-08002B2CF9AE}" pid="5" name="TemplafyUserProfileId">
    <vt:lpwstr>636838302414865013</vt:lpwstr>
  </property>
  <property fmtid="{D5CDD505-2E9C-101B-9397-08002B2CF9AE}" pid="6" name="TemplafyLanguageCode">
    <vt:lpwstr>en-GB</vt:lpwstr>
  </property>
</Properties>
</file>