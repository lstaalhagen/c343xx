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7"/>
  </p:sldMasterIdLst>
  <p:notesMasterIdLst>
    <p:notesMasterId r:id="rId15"/>
  </p:notesMasterIdLst>
  <p:handoutMasterIdLst>
    <p:handoutMasterId r:id="rId16"/>
  </p:handoutMasterIdLst>
  <p:sldIdLst>
    <p:sldId id="260" r:id="rId8"/>
    <p:sldId id="266" r:id="rId9"/>
    <p:sldId id="271" r:id="rId10"/>
    <p:sldId id="267" r:id="rId11"/>
    <p:sldId id="257" r:id="rId12"/>
    <p:sldId id="272" r:id="rId13"/>
    <p:sldId id="265" r:id="rId14"/>
  </p:sldIdLst>
  <p:sldSz cx="12190413" cy="6858000"/>
  <p:notesSz cx="6400800" cy="11733213"/>
  <p:custDataLst>
    <p:tags r:id="rId17"/>
  </p:custDataLst>
  <p:defaultTextStyle>
    <a:defPPr>
      <a:defRPr lang="da-DK"/>
    </a:defPPr>
    <a:lvl1pPr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90000"/>
    <a:srgbClr val="000000"/>
    <a:srgbClr val="FFCC00"/>
    <a:srgbClr val="FF6600"/>
    <a:srgbClr val="FF0000"/>
    <a:srgbClr val="FF0099"/>
    <a:srgbClr val="CC3399"/>
    <a:srgbClr val="660066"/>
    <a:srgbClr val="66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6098" autoAdjust="0"/>
  </p:normalViewPr>
  <p:slideViewPr>
    <p:cSldViewPr showGuides="1">
      <p:cViewPr varScale="1">
        <p:scale>
          <a:sx n="79" d="100"/>
          <a:sy n="79" d="100"/>
        </p:scale>
        <p:origin x="725" y="6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Master" Target="slideMasters/slideMaster1.xml"/><Relationship Id="rId12" Type="http://schemas.openxmlformats.org/officeDocument/2006/relationships/slide" Target="slides/slide5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4.xml"/><Relationship Id="rId5" Type="http://schemas.openxmlformats.org/officeDocument/2006/relationships/customXml" Target="../customXml/item5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9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2"/>
            <a:ext cx="2773680" cy="586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0" tIns="49521" rIns="99040" bIns="49521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3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625640" y="2"/>
            <a:ext cx="2773680" cy="586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0" tIns="49521" rIns="99040" bIns="49521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3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11144519"/>
            <a:ext cx="2773680" cy="586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0" tIns="49521" rIns="99040" bIns="49521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3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625640" y="11144519"/>
            <a:ext cx="2773680" cy="5866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0" tIns="49521" rIns="99040" bIns="49521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300"/>
            </a:lvl1pPr>
          </a:lstStyle>
          <a:p>
            <a:fld id="{491ECFBD-4A0D-4BCF-98A8-E205F44719BF}" type="slidenum">
              <a:rPr lang="da-DK" smtClean="0">
                <a:latin typeface="Arial" panose="020B0604020202020204" pitchFamily="34" charset="0"/>
              </a:rPr>
              <a:pPr/>
              <a:t>‹#›</a:t>
            </a:fld>
            <a:endParaRPr lang="da-DK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09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2"/>
            <a:ext cx="2773680" cy="586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0" tIns="49521" rIns="99040" bIns="49521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3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627122" y="2"/>
            <a:ext cx="2773680" cy="586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0" tIns="49521" rIns="99040" bIns="49521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3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-706438" y="882650"/>
            <a:ext cx="7813676" cy="43973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53443" y="5573277"/>
            <a:ext cx="4693920" cy="52799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0" tIns="49521" rIns="99040" bIns="4952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Master </a:t>
            </a:r>
            <a:r>
              <a:rPr lang="da-DK" dirty="0" err="1"/>
              <a:t>text</a:t>
            </a:r>
            <a:r>
              <a:rPr lang="da-DK" dirty="0"/>
              <a:t> </a:t>
            </a:r>
            <a:r>
              <a:rPr lang="da-DK" dirty="0" err="1"/>
              <a:t>styles</a:t>
            </a:r>
            <a:endParaRPr lang="da-DK" dirty="0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11146555"/>
            <a:ext cx="2773680" cy="586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0" tIns="49521" rIns="99040" bIns="49521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3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627122" y="11146555"/>
            <a:ext cx="2773680" cy="586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9040" tIns="49521" rIns="99040" bIns="49521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300">
                <a:latin typeface="Arial" panose="020B0604020202020204" pitchFamily="34" charset="0"/>
              </a:defRPr>
            </a:lvl1pPr>
          </a:lstStyle>
          <a:p>
            <a:fld id="{C734BB09-483B-4C4B-A5A4-C02A22055B01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778360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5113039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2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76019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4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45180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5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1662894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7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713678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" name="Logo white">
            <a:extLst>
              <a:ext uri="{FF2B5EF4-FFF2-40B4-BE49-F238E27FC236}">
                <a16:creationId xmlns:a16="http://schemas.microsoft.com/office/drawing/2014/main" id="{275A6477-FE3A-4D40-B1FE-E46C11E344A5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17C6C-7BC3-4888-BC29-FAB17565D11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E4668-D07F-4B96-9755-17540273485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7214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5919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CA8860-CDAD-4F91-9292-2B11655C19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7A21B-9B48-4777-BF0D-9FB95719C2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7774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1117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410177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001" y="1706399"/>
            <a:ext cx="4409100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499420-B0E8-4C8A-8C00-E21262271A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EE7F0E-E606-41AC-BBBF-B5AECB1112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12135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8">
          <p15:clr>
            <a:srgbClr val="F26B43"/>
          </p15:clr>
        </p15:guide>
        <p15:guide id="2" pos="3896">
          <p15:clr>
            <a:srgbClr val="F26B43"/>
          </p15:clr>
        </p15:guide>
        <p15:guide id="3" pos="4205">
          <p15:clr>
            <a:srgbClr val="F26B43"/>
          </p15:clr>
        </p15:guide>
        <p15:guide id="4" pos="6984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6048672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726" y="1706328"/>
            <a:ext cx="6048672" cy="454557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1213" y="849734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1213" y="3563718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986237-C7E2-4498-82A4-361A340A65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2670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27" userDrawn="1">
          <p15:clr>
            <a:srgbClr val="F26B43"/>
          </p15:clr>
        </p15:guide>
        <p15:guide id="2" pos="5247" userDrawn="1">
          <p15:clr>
            <a:srgbClr val="F26B43"/>
          </p15:clr>
        </p15:guide>
        <p15:guide id="3" pos="1117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60" y="426127"/>
            <a:ext cx="6865740" cy="9727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360" y="1706328"/>
            <a:ext cx="6865740" cy="454557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31452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396815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26B732-1A52-4AA9-89FC-8FC5439E40D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3562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2660" userDrawn="1">
          <p15:clr>
            <a:srgbClr val="F26B43"/>
          </p15:clr>
        </p15:guide>
        <p15:guide id="3" pos="2335" userDrawn="1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50" y="980727"/>
            <a:ext cx="3740400" cy="41811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 dirty="0"/>
              <a:t>Click to add title one line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407150"/>
            <a:ext cx="3740400" cy="18444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27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 dirty="0"/>
              <a:t>Click to add title one line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22750" y="4406899"/>
            <a:ext cx="3740401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 dirty="0"/>
              <a:t>Click to add title one line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97850" y="4406899"/>
            <a:ext cx="3740400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7650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3149" y="1548581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198648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6374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7522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97DEAA-3B7B-49C7-8C28-3F21F36A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F74546-9D06-4CF7-806D-E04B043BF5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3AB3-8AAF-469F-AD3F-AE5E1A39D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845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7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75ABF-082F-4A38-B952-09157E37A8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926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B7FFAE6-D148-4A15-9DFC-7D71B820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1786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A59923C-6F09-424E-AF1E-AC62326A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Top bar">
            <a:extLst>
              <a:ext uri="{FF2B5EF4-FFF2-40B4-BE49-F238E27FC236}">
                <a16:creationId xmlns:a16="http://schemas.microsoft.com/office/drawing/2014/main" id="{0D436479-94F3-475C-8F8D-D3CDC81793FD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6376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13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" name="FLD_Presentation Title"/>
          <p:cNvSpPr>
            <a:spLocks noGrp="1"/>
          </p:cNvSpPr>
          <p:nvPr>
            <p:ph type="ftr" sz="quarter" idx="3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spcBef>
                <a:spcPts val="0"/>
              </a:spcBef>
              <a:defRPr sz="700" b="0">
                <a:noFill/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ctr">
              <a:defRPr sz="1400" b="1">
                <a:solidFill>
                  <a:schemeClr val="bg1"/>
                </a:solidFill>
                <a:latin typeface="+mn-lt"/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726" y="426127"/>
            <a:ext cx="9312374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726" y="1706328"/>
            <a:ext cx="9312374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endParaRPr lang="en-GB" dirty="0"/>
          </a:p>
        </p:txBody>
      </p:sp>
      <p:sp>
        <p:nvSpPr>
          <p:cNvPr id="113676" name="text" descr="{&quot;templafy&quot;:{&quot;id&quot;:&quot;2fce62a0-f28a-44e1-a519-0cbe37b25f7a&quot;}}" title="UserProfile.Offices.Workarea_{{DocumentLanguage}}"/>
          <p:cNvSpPr>
            <a:spLocks noChangeArrowheads="1"/>
          </p:cNvSpPr>
          <p:nvPr/>
        </p:nvSpPr>
        <p:spPr bwMode="auto">
          <a:xfrm>
            <a:off x="1774726" y="6541200"/>
            <a:ext cx="3397071" cy="31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0"/>
          <a:lstStyle/>
          <a:p>
            <a:pPr algn="l" eaLnBrk="0" hangingPunct="0">
              <a:spcBef>
                <a:spcPct val="0"/>
              </a:spcBef>
            </a:pPr>
            <a:r>
              <a:rPr lang="en-GB" sz="700" b="1" dirty="0">
                <a:solidFill>
                  <a:schemeClr val="bg1"/>
                </a:solidFill>
                <a:latin typeface="+mn-lt"/>
              </a:rPr>
              <a:t>DTU</a:t>
            </a:r>
          </a:p>
        </p:txBody>
      </p:sp>
      <p:sp>
        <p:nvSpPr>
          <p:cNvPr id="5" name="date" descr="{&quot;templafy&quot;:{&quot;id&quot;:&quot;58465eeb-cfe0-4970-97ec-88179dc0a9c2&quot;}}" title="Form.Date">
            <a:extLst>
              <a:ext uri="{FF2B5EF4-FFF2-40B4-BE49-F238E27FC236}">
                <a16:creationId xmlns:a16="http://schemas.microsoft.com/office/drawing/2014/main" id="{792B975C-625D-4095-8E1D-63F20A11B57C}"/>
              </a:ext>
            </a:extLst>
          </p:cNvPr>
          <p:cNvSpPr/>
          <p:nvPr userDrawn="1"/>
        </p:nvSpPr>
        <p:spPr bwMode="auto">
          <a:xfrm>
            <a:off x="251363" y="6541200"/>
            <a:ext cx="1104013" cy="316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7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pitchFamily="-80" charset="-128"/>
              </a:rPr>
              <a:t>March 13, 2025</a:t>
            </a:r>
            <a:endParaRPr kumimoji="0" lang="en-GB" sz="7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7" name="text" descr="{&quot;templafy&quot;:{&quot;id&quot;:&quot;5020bdfb-1912-4d6d-a5c3-71b7da283692&quot;}}" title="Form.PresentationTitle">
            <a:extLst>
              <a:ext uri="{FF2B5EF4-FFF2-40B4-BE49-F238E27FC236}">
                <a16:creationId xmlns:a16="http://schemas.microsoft.com/office/drawing/2014/main" id="{06B09BDB-1C7D-4F8A-8F1B-82D88054A428}"/>
              </a:ext>
            </a:extLst>
          </p:cNvPr>
          <p:cNvSpPr txBox="1"/>
          <p:nvPr userDrawn="1"/>
        </p:nvSpPr>
        <p:spPr>
          <a:xfrm>
            <a:off x="5591149" y="6541200"/>
            <a:ext cx="5495949" cy="316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en-GB" sz="700">
                <a:solidFill>
                  <a:schemeClr val="bg1"/>
                </a:solidFill>
                <a:latin typeface="+mn-lt"/>
              </a:rPr>
              <a:t>MQTT-CoAP exercise (Part 1)</a:t>
            </a:r>
            <a:endParaRPr lang="en-GB" sz="7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op bar">
            <a:extLst>
              <a:ext uri="{FF2B5EF4-FFF2-40B4-BE49-F238E27FC236}">
                <a16:creationId xmlns:a16="http://schemas.microsoft.com/office/drawing/2014/main" id="{35912424-89BF-4A93-9096-3282916C71FE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5470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1" r:id="rId2"/>
    <p:sldLayoutId id="2147483664" r:id="rId3"/>
    <p:sldLayoutId id="2147483677" r:id="rId4"/>
    <p:sldLayoutId id="2147483672" r:id="rId5"/>
    <p:sldLayoutId id="2147483673" r:id="rId6"/>
    <p:sldLayoutId id="2147483676" r:id="rId7"/>
    <p:sldLayoutId id="2147483666" r:id="rId8"/>
    <p:sldLayoutId id="2147483667" r:id="rId9"/>
    <p:sldLayoutId id="2147483668" r:id="rId10"/>
    <p:sldLayoutId id="2147483669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 userDrawn="1">
          <p15:clr>
            <a:srgbClr val="F26B43"/>
          </p15:clr>
        </p15:guide>
        <p15:guide id="4" orient="horz" pos="881" userDrawn="1">
          <p15:clr>
            <a:srgbClr val="F26B43"/>
          </p15:clr>
        </p15:guide>
        <p15:guide id="5" orient="horz" pos="1074" userDrawn="1">
          <p15:clr>
            <a:srgbClr val="F26B43"/>
          </p15:clr>
        </p15:guide>
        <p15:guide id="6" orient="horz" pos="39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5.xml"/><Relationship Id="rId1" Type="http://schemas.openxmlformats.org/officeDocument/2006/relationships/customXml" Target="../../customXml/item3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2.xml"/><Relationship Id="rId1" Type="http://schemas.openxmlformats.org/officeDocument/2006/relationships/customXml" Target="../../customXml/item4.xml"/><Relationship Id="rId5" Type="http://schemas.openxmlformats.org/officeDocument/2006/relationships/image" Target="../media/image2.emf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mosquitto.org/" TargetMode="Externa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4358EA-4D5B-461F-997D-DE6729900D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MQTT-CoAP Exercise (Part 1)</a:t>
            </a:r>
            <a:endParaRPr lang="en-GB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8CE6942-A17C-4247-86C6-41FACF7E90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Course 34351 Access- and Home Networks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A221E4-1851-497D-90EE-984C7112166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4C8C45C-947F-4981-8B3F-4F32E973C901}" type="slidenum">
              <a:rPr lang="en-GB" smtClean="0"/>
              <a:pPr/>
              <a:t>1</a:t>
            </a:fld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320714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MQTT-CoAP exercise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The MQTT-CoAP exercise is the second of the mandatory exercises in course 34351</a:t>
            </a:r>
          </a:p>
          <a:p>
            <a:endParaRPr lang="en-GB"/>
          </a:p>
          <a:p>
            <a:r>
              <a:rPr lang="en-GB"/>
              <a:t>Takes place over three consecutive weeks: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2</a:t>
            </a:fld>
            <a:endParaRPr lang="en-GB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1836129"/>
              </p:ext>
            </p:extLst>
          </p:nvPr>
        </p:nvGraphicFramePr>
        <p:xfrm>
          <a:off x="1773238" y="2708920"/>
          <a:ext cx="9074496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624">
                  <a:extLst>
                    <a:ext uri="{9D8B030D-6E8A-4147-A177-3AD203B41FA5}">
                      <a16:colId xmlns:a16="http://schemas.microsoft.com/office/drawing/2014/main" val="1556840463"/>
                    </a:ext>
                  </a:extLst>
                </a:gridCol>
                <a:gridCol w="7848872">
                  <a:extLst>
                    <a:ext uri="{9D8B030D-6E8A-4147-A177-3AD203B41FA5}">
                      <a16:colId xmlns:a16="http://schemas.microsoft.com/office/drawing/2014/main" val="13686200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600"/>
                        <a:t>Date</a:t>
                      </a:r>
                      <a:endParaRPr lang="da-DK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Topic</a:t>
                      </a:r>
                      <a:endParaRPr lang="da-DK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41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2025-03-13</a:t>
                      </a:r>
                      <a:endParaRPr lang="da-DK" sz="16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>
                          <a:solidFill>
                            <a:schemeClr val="tx1"/>
                          </a:solidFill>
                        </a:rPr>
                        <a:t>Introduction to the exercise, Exercise Part 1 (MQTT)</a:t>
                      </a:r>
                      <a:endParaRPr lang="da-DK" sz="1600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6195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/>
                        <a:t>2025-03-20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Exercise</a:t>
                      </a:r>
                      <a:r>
                        <a:rPr lang="en-GB" sz="1600" baseline="0"/>
                        <a:t> part 2 (CoAP)</a:t>
                      </a:r>
                      <a:endParaRPr lang="da-DK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6157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/>
                        <a:t>2025-03-27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/>
                        <a:t>Exercise wrap-up if there are parts</a:t>
                      </a:r>
                      <a:r>
                        <a:rPr lang="en-GB" sz="1600" baseline="0"/>
                        <a:t> you’re missing – otherwise work on your journal</a:t>
                      </a:r>
                      <a:endParaRPr lang="da-DK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6227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600"/>
                        <a:t>2025-04-03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/>
                        <a:t>Deadline for handing-in the journal</a:t>
                      </a:r>
                      <a:r>
                        <a:rPr lang="en-GB" sz="1600" baseline="0"/>
                        <a:t> to the assignment on DTU Learn @13.00</a:t>
                      </a:r>
                      <a:endParaRPr lang="da-DK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6152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7994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MQTT-CoAP exercise (2)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Hand-in of reports</a:t>
            </a:r>
            <a:r>
              <a:rPr lang="da-DK"/>
              <a:t>: Individually or in groups of 2-3 students</a:t>
            </a:r>
          </a:p>
          <a:p>
            <a:endParaRPr lang="en-GB"/>
          </a:p>
          <a:p>
            <a:r>
              <a:rPr lang="en-GB"/>
              <a:t>Deadline: Wednesday, April 3 at 13.00</a:t>
            </a:r>
          </a:p>
          <a:p>
            <a:endParaRPr lang="en-GB"/>
          </a:p>
          <a:p>
            <a:r>
              <a:rPr lang="en-GB"/>
              <a:t>You have to join a group on Learn to be able to hand-in</a:t>
            </a:r>
          </a:p>
          <a:p>
            <a:pPr lvl="1"/>
            <a:r>
              <a:rPr lang="en-GB"/>
              <a:t>Even if you work individually (i.e., if you’re a one-person “group”)</a:t>
            </a:r>
          </a:p>
          <a:p>
            <a:pPr lvl="2"/>
            <a:r>
              <a:rPr lang="en-GB"/>
              <a:t>It can be the same group as for the Mininet-WiFi exercise - or a new group if you wish</a:t>
            </a:r>
          </a:p>
          <a:p>
            <a:pPr lvl="1"/>
            <a:r>
              <a:rPr lang="en-GB"/>
              <a:t>Go to My Course =&gt; Groups on Learn</a:t>
            </a:r>
          </a:p>
          <a:p>
            <a:pPr lvl="2"/>
            <a:r>
              <a:rPr lang="en-GB"/>
              <a:t>Find an empty group (“0/3 members”)</a:t>
            </a:r>
          </a:p>
          <a:p>
            <a:pPr lvl="2"/>
            <a:r>
              <a:rPr lang="en-GB"/>
              <a:t>Click on group to join (should be done by both of you for two-person groups)</a:t>
            </a:r>
          </a:p>
          <a:p>
            <a:pPr lvl="1"/>
            <a:r>
              <a:rPr lang="en-GB"/>
              <a:t>Contact me if you have trouble with groups</a:t>
            </a:r>
          </a:p>
          <a:p>
            <a:pPr lvl="1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1854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General tips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Saving output from Linux commands/scripts:</a:t>
            </a:r>
          </a:p>
          <a:p>
            <a:pPr lvl="1"/>
            <a:r>
              <a:rPr lang="da-DK"/>
              <a:t>Linux CLI:</a:t>
            </a: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a-DK" b="1" i="1">
                <a:latin typeface="Courier New" panose="02070309020205020404" pitchFamily="49" charset="0"/>
                <a:cs typeface="Courier New" panose="02070309020205020404" pitchFamily="49" charset="0"/>
              </a:rPr>
              <a:t>command</a:t>
            </a:r>
            <a:r>
              <a:rPr lang="da-DK" b="1">
                <a:latin typeface="Courier New" panose="02070309020205020404" pitchFamily="49" charset="0"/>
                <a:cs typeface="Courier New" panose="02070309020205020404" pitchFamily="49" charset="0"/>
              </a:rPr>
              <a:t> 2&gt;&amp;1 | tee outputfile.txt</a:t>
            </a:r>
          </a:p>
          <a:p>
            <a:pPr lvl="0"/>
            <a:endParaRPr lang="da-DK"/>
          </a:p>
          <a:p>
            <a:pPr lvl="0"/>
            <a:r>
              <a:rPr lang="da-DK"/>
              <a:t>Use the up and down arrow keys on your keyboard to</a:t>
            </a:r>
            <a:br>
              <a:rPr lang="da-DK"/>
            </a:br>
            <a:r>
              <a:rPr lang="da-DK"/>
              <a:t>quickly scroll up and down in your command history.</a:t>
            </a:r>
            <a:br>
              <a:rPr lang="da-DK"/>
            </a:br>
            <a:endParaRPr lang="da-DK"/>
          </a:p>
        </p:txBody>
      </p:sp>
      <p:pic>
        <p:nvPicPr>
          <p:cNvPr id="1026" name="Picture 2" descr="Arrow Keys-up Down - Arrow Keys Cartoon PNG Image | Transparent PNG Free  Download on Seek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9382" y="2586408"/>
            <a:ext cx="2915295" cy="1685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7291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B9D89-4678-4B3C-8679-3E429EFBB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Virtual networks in Linux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5890CD-8F90-4FE7-841F-F7B0C2865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Network namespaces are used to create a virtual network for the exercise:</a:t>
            </a:r>
          </a:p>
          <a:p>
            <a:pPr lvl="1"/>
            <a:r>
              <a:rPr lang="en-GB"/>
              <a:t>Scripts in the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 /home/user/mqtt </a:t>
            </a:r>
            <a:r>
              <a:rPr lang="en-GB"/>
              <a:t>directory</a:t>
            </a:r>
          </a:p>
          <a:p>
            <a:pPr lvl="1"/>
            <a:r>
              <a:rPr lang="en-GB"/>
              <a:t>In a terminal: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 cd mqtt</a:t>
            </a:r>
          </a:p>
          <a:p>
            <a:endParaRPr lang="en-GB"/>
          </a:p>
          <a:p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netgenerate.sh</a:t>
            </a:r>
            <a:r>
              <a:rPr lang="en-GB"/>
              <a:t> - Generates a virtual network</a:t>
            </a:r>
          </a:p>
          <a:p>
            <a:pPr lvl="1"/>
            <a:r>
              <a:rPr lang="en-GB">
                <a:cs typeface="Courier New" panose="02070309020205020404" pitchFamily="49" charset="0"/>
              </a:rPr>
              <a:t>Execute: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 sudo ./netgenerate.sh</a:t>
            </a:r>
          </a:p>
          <a:p>
            <a:pPr lvl="2"/>
            <a:r>
              <a:rPr lang="en-GB"/>
              <a:t>Generates the virtual network on the right</a:t>
            </a:r>
            <a:br>
              <a:rPr lang="en-GB"/>
            </a:br>
            <a:r>
              <a:rPr lang="en-GB"/>
              <a:t>and opens an Xterm window on each host</a:t>
            </a:r>
          </a:p>
          <a:p>
            <a:pPr lvl="1"/>
            <a:r>
              <a:rPr lang="en-GB"/>
              <a:t>Options:</a:t>
            </a:r>
          </a:p>
          <a:p>
            <a:pPr lvl="2"/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--noxterms       </a:t>
            </a:r>
            <a:r>
              <a:rPr lang="en-GB"/>
              <a:t>Generates the network but doesn’t open Xterm windows</a:t>
            </a:r>
          </a:p>
          <a:p>
            <a:pPr lvl="2"/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--numhosts &lt;N&gt;   </a:t>
            </a:r>
            <a:r>
              <a:rPr lang="en-GB"/>
              <a:t>Generates a network with N hosts instead of 3.</a:t>
            </a:r>
          </a:p>
          <a:p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clearnet.sh</a:t>
            </a:r>
            <a:r>
              <a:rPr lang="en-GB"/>
              <a:t> - Deletes the virtual network</a:t>
            </a:r>
          </a:p>
          <a:p>
            <a:pPr lvl="1"/>
            <a:r>
              <a:rPr lang="en-GB"/>
              <a:t>Execute (in the mqtt directory):</a:t>
            </a:r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 sudo ./clearnet.sh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pPr marL="0" indent="0">
              <a:buNone/>
            </a:pPr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5</a:t>
            </a:fld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BDF9FB-6545-85AC-783B-F9E216BB52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374" y="2060848"/>
            <a:ext cx="3322320" cy="2506980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796381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CDE84-9495-8E4F-CFBF-B43E30BFB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MQTT Software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06B5-2838-63B3-20C9-A6416E7EA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Based on the Eclipse Mosquitto broker and clients (</a:t>
            </a:r>
            <a:r>
              <a:rPr lang="en-GB">
                <a:hlinkClick r:id="rId2"/>
              </a:rPr>
              <a:t>https://mosquitto.org</a:t>
            </a:r>
            <a:r>
              <a:rPr lang="en-GB"/>
              <a:t>)</a:t>
            </a:r>
          </a:p>
          <a:p>
            <a:endParaRPr lang="en-GB"/>
          </a:p>
          <a:p>
            <a:r>
              <a:rPr lang="en-GB"/>
              <a:t>Website includes documentation that you will need, e.g., command line arguments for</a:t>
            </a:r>
          </a:p>
          <a:p>
            <a:pPr lvl="1"/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mosquitto</a:t>
            </a:r>
            <a:r>
              <a:rPr lang="en-GB"/>
              <a:t> - The broker</a:t>
            </a:r>
          </a:p>
          <a:p>
            <a:pPr lvl="1"/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mosquitto_pub</a:t>
            </a:r>
            <a:r>
              <a:rPr lang="en-GB"/>
              <a:t> - A publisher client</a:t>
            </a:r>
          </a:p>
          <a:p>
            <a:pPr lvl="1"/>
            <a:r>
              <a:rPr lang="en-GB" b="1">
                <a:latin typeface="Courier New" panose="02070309020205020404" pitchFamily="49" charset="0"/>
                <a:cs typeface="Courier New" panose="02070309020205020404" pitchFamily="49" charset="0"/>
              </a:rPr>
              <a:t>mosquitto_sub</a:t>
            </a:r>
            <a:r>
              <a:rPr lang="en-GB"/>
              <a:t> - A subscriber client</a:t>
            </a:r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10C0C-FD6C-A382-C786-5BAF4A7526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9447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Assignment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Go through the steps of the MQTT-CoAP exercise document on Learn</a:t>
            </a:r>
          </a:p>
          <a:p>
            <a:pPr lvl="1"/>
            <a:r>
              <a:rPr lang="en-GB"/>
              <a:t>MQTT is the focus of Part 1</a:t>
            </a:r>
          </a:p>
          <a:p>
            <a:endParaRPr lang="en-GB"/>
          </a:p>
          <a:p>
            <a:r>
              <a:rPr lang="en-GB"/>
              <a:t>Write an lab journal where you answer the questions in the manual</a:t>
            </a:r>
          </a:p>
          <a:p>
            <a:pPr lvl="1"/>
            <a:r>
              <a:rPr lang="en-GB"/>
              <a:t>You don’t need to write a loooooong novel for each part</a:t>
            </a:r>
          </a:p>
          <a:p>
            <a:pPr lvl="1"/>
            <a:r>
              <a:rPr lang="en-GB"/>
              <a:t>But your answers must be documented!</a:t>
            </a:r>
          </a:p>
          <a:p>
            <a:endParaRPr lang="en-GB"/>
          </a:p>
          <a:p>
            <a:r>
              <a:rPr lang="en-GB"/>
              <a:t>Continue with Part 2 next week (focus on CoAP), adding to your lab journal</a:t>
            </a:r>
          </a:p>
          <a:p>
            <a:endParaRPr lang="en-GB"/>
          </a:p>
          <a:p>
            <a:r>
              <a:rPr lang="en-GB"/>
              <a:t>Hand-in the complete lab journal on Learn no later than April 3 @ 13.00.</a:t>
            </a:r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21192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DNEW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heme/theme1.xml><?xml version="1.0" encoding="utf-8"?>
<a:theme xmlns:a="http://schemas.openxmlformats.org/drawingml/2006/main" name="Blank">
  <a:themeElements>
    <a:clrScheme name="DTU">
      <a:dk1>
        <a:srgbClr val="000000"/>
      </a:dk1>
      <a:lt1>
        <a:srgbClr val="FFFFFF"/>
      </a:lt1>
      <a:dk2>
        <a:srgbClr val="990000"/>
      </a:dk2>
      <a:lt2>
        <a:srgbClr val="79238E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990000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accent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3B38FA3B-2246-40E5-A61A-EA1559A3CD76}" vid="{D5F764FD-A73C-4B6C-BF48-3536DEB79AD2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TemplafyTemplateConfiguration><![CDATA[{"elementsMetadata":[{"type":"shape","id":"2fce62a0-f28a-44e1-a519-0cbe37b25f7a","elementConfiguration":{"binding":"UserProfile.Offices.Workarea_{{DocumentLanguage}}","disableUpdates":false,"type":"text"}},{"type":"shape","id":"58465eeb-cfe0-4970-97ec-88179dc0a9c2","elementConfiguration":{"binding":"Form.Date","format":"{{DateFormats.GeneralDate}}","disableUpdates":false,"type":"date"}},{"type":"shape","id":"5020bdfb-1912-4d6d-a5c3-71b7da283692","elementConfiguration":{"binding":"Form.PresentationTitle","disableUpdates":false,"type":"text"}},{"type":"shape","id":"8d5b95d1-8a23-4044-9620-bf5e7305a170","elementConfiguration":{"binding":"UserProfile.Offices.Workarea_{{DocumentLanguage}}","disableUpdates":false,"type":"text"}},{"type":"shape","id":"79fbb3c3-dd89-47ef-91e9-e0bd2bb0942f","elementConfiguration":{"binding":"Form.Date","format":"{{DateFormats.GeneralDate}}","disableUpdates":false,"type":"date"}},{"type":"shape","id":"5e9447ba-0dff-46ec-ac33-540c046ca40a","elementConfiguration":{"binding":"Form.PresentationTitle","disableUpdates":false,"type":"text"}}],"transformationConfigurations":[{"language":"{{DocumentLanguage}}","disableUpdates":false,"type":"proofingLanguage"}],"enableDocumentContentUpdater":true,"templateName":"DTU Template 16_9 - Corporate red","templateDescription":"","version":"1.2"}]]></TemplafyTemplateConfiguration>
</file>

<file path=customXml/item2.xml><?xml version="1.0" encoding="utf-8"?>
<TemplafySlideTemplateConfiguration><![CDATA[{"elementsMetadata":[],"enableDocumentContentUpdater":true,"documentContentValidatorConfiguration":{"enableDocumentContentValidator":false,"documentContentValidatorVersion":0},"slideId":"636837486369753289","version":"1.2"}]]></TemplafySlideTemplateConfiguration>
</file>

<file path=customXml/item3.xml><?xml version="1.0" encoding="utf-8"?>
<TemplafySlideTemplateConfiguration><![CDATA[{"elementsMetadata":[],"enableDocumentContentUpdater":true,"documentContentValidatorConfiguration":{"enableDocumentContentValidator":false,"documentContentValidatorVersion":0},"slideId":"636837486369128185","version":"1.2"}]]></TemplafySlideTemplateConfiguration>
</file>

<file path=customXml/item4.xml><?xml version="1.0" encoding="utf-8"?>
<TemplafySlideFormConfiguration><![CDATA[{"formFields":[],"formDataEntries":[]}]]></TemplafySlideForm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FormConfiguration><![CDATA[{"formFields":[{"required":false,"type":"datePicker","name":"Date","label":"Date","helpTexts":{"prefix":"","postfix":""},"spacing":{},"fullyQualifiedName":"Date"},{"required":false,"placeholder":"","lines":0,"type":"textBox","name":"PresentationTitle","label":"Presentation title","helpTexts":{"prefix":"","postfix":""},"spacing":{},"fullyQualifiedName":"PresentationTitle"}],"formDataEntries":[{"name":"Date","value":"4Xm7d242HGo446IH5nRjQA=="},{"name":"PresentationTitle","value":"ZR/I84ubq+6CkRKNk7nn9w=="}]}]]></TemplafyFormConfiguration>
</file>

<file path=customXml/itemProps1.xml><?xml version="1.0" encoding="utf-8"?>
<ds:datastoreItem xmlns:ds="http://schemas.openxmlformats.org/officeDocument/2006/customXml" ds:itemID="{1334258C-C3E7-4029-A615-C886A240FB15}">
  <ds:schemaRefs/>
</ds:datastoreItem>
</file>

<file path=customXml/itemProps2.xml><?xml version="1.0" encoding="utf-8"?>
<ds:datastoreItem xmlns:ds="http://schemas.openxmlformats.org/officeDocument/2006/customXml" ds:itemID="{02E7CCCE-613B-4CED-B813-E473EA1E01B2}">
  <ds:schemaRefs/>
</ds:datastoreItem>
</file>

<file path=customXml/itemProps3.xml><?xml version="1.0" encoding="utf-8"?>
<ds:datastoreItem xmlns:ds="http://schemas.openxmlformats.org/officeDocument/2006/customXml" ds:itemID="{11FAAC39-0A3A-4CC2-A9C1-60940B78AE17}">
  <ds:schemaRefs/>
</ds:datastoreItem>
</file>

<file path=customXml/itemProps4.xml><?xml version="1.0" encoding="utf-8"?>
<ds:datastoreItem xmlns:ds="http://schemas.openxmlformats.org/officeDocument/2006/customXml" ds:itemID="{F4C08C7F-F953-44DE-ACDE-930692BDDB0F}">
  <ds:schemaRefs/>
</ds:datastoreItem>
</file>

<file path=customXml/itemProps5.xml><?xml version="1.0" encoding="utf-8"?>
<ds:datastoreItem xmlns:ds="http://schemas.openxmlformats.org/officeDocument/2006/customXml" ds:itemID="{56C8BFB2-A911-4310-9D4A-421D773FAFA6}">
  <ds:schemaRefs/>
</ds:datastoreItem>
</file>

<file path=customXml/itemProps6.xml><?xml version="1.0" encoding="utf-8"?>
<ds:datastoreItem xmlns:ds="http://schemas.openxmlformats.org/officeDocument/2006/customXml" ds:itemID="{05DC2B94-7C1B-4C14-83B0-9CD2A82C27E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775</TotalTime>
  <Words>496</Words>
  <Application>Microsoft Office PowerPoint</Application>
  <PresentationFormat>Custom</PresentationFormat>
  <Paragraphs>99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Courier New</vt:lpstr>
      <vt:lpstr>Verdana</vt:lpstr>
      <vt:lpstr>Blank</vt:lpstr>
      <vt:lpstr>MQTT-CoAP Exercise (Part 1)</vt:lpstr>
      <vt:lpstr>MQTT-CoAP exercise</vt:lpstr>
      <vt:lpstr>MQTT-CoAP exercise (2)</vt:lpstr>
      <vt:lpstr>General tips</vt:lpstr>
      <vt:lpstr>Virtual networks in Linux</vt:lpstr>
      <vt:lpstr>MQTT Software</vt:lpstr>
      <vt:lpstr>Assignment</vt:lpstr>
    </vt:vector>
  </TitlesOfParts>
  <Company>DTU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Lars Staalhagen</dc:creator>
  <cp:lastModifiedBy>Lars Staalhagen</cp:lastModifiedBy>
  <cp:revision>41</cp:revision>
  <cp:lastPrinted>2024-03-07T10:46:23Z</cp:lastPrinted>
  <dcterms:created xsi:type="dcterms:W3CDTF">2021-09-16T10:59:16Z</dcterms:created>
  <dcterms:modified xsi:type="dcterms:W3CDTF">2025-03-13T14:14:03Z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dIsCodeFreeTemplate">
    <vt:lpwstr>True</vt:lpwstr>
  </property>
  <property fmtid="{D5CDD505-2E9C-101B-9397-08002B2CF9AE}" pid="3" name="TemplafyTenantId">
    <vt:lpwstr>dtu</vt:lpwstr>
  </property>
  <property fmtid="{D5CDD505-2E9C-101B-9397-08002B2CF9AE}" pid="4" name="TemplafyTemplateId">
    <vt:lpwstr>636784030496976655</vt:lpwstr>
  </property>
  <property fmtid="{D5CDD505-2E9C-101B-9397-08002B2CF9AE}" pid="5" name="TemplafyUserProfileId">
    <vt:lpwstr>636838302414865013</vt:lpwstr>
  </property>
  <property fmtid="{D5CDD505-2E9C-101B-9397-08002B2CF9AE}" pid="6" name="TemplafyLanguageCode">
    <vt:lpwstr>en-GB</vt:lpwstr>
  </property>
</Properties>
</file>